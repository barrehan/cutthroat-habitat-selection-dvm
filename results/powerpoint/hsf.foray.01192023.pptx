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76" r:id="rId2"/>
    <p:sldId id="286" r:id="rId3"/>
    <p:sldId id="287" r:id="rId4"/>
    <p:sldId id="266" r:id="rId5"/>
    <p:sldId id="263" r:id="rId6"/>
    <p:sldId id="264" r:id="rId7"/>
    <p:sldId id="285" r:id="rId8"/>
    <p:sldId id="267" r:id="rId9"/>
    <p:sldId id="268" r:id="rId10"/>
    <p:sldId id="269" r:id="rId11"/>
    <p:sldId id="279" r:id="rId12"/>
    <p:sldId id="271" r:id="rId13"/>
    <p:sldId id="270" r:id="rId14"/>
    <p:sldId id="262" r:id="rId15"/>
    <p:sldId id="259" r:id="rId16"/>
    <p:sldId id="272" r:id="rId17"/>
    <p:sldId id="273" r:id="rId18"/>
    <p:sldId id="280" r:id="rId19"/>
    <p:sldId id="257" r:id="rId20"/>
    <p:sldId id="283" r:id="rId21"/>
    <p:sldId id="284" r:id="rId22"/>
    <p:sldId id="277" r:id="rId23"/>
    <p:sldId id="278" r:id="rId24"/>
    <p:sldId id="281" r:id="rId25"/>
    <p:sldId id="275" r:id="rId26"/>
    <p:sldId id="274" r:id="rId27"/>
    <p:sldId id="258" r:id="rId28"/>
    <p:sldId id="260" r:id="rId29"/>
    <p:sldId id="26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A65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67" autoAdjust="0"/>
    <p:restoredTop sz="94660"/>
  </p:normalViewPr>
  <p:slideViewPr>
    <p:cSldViewPr snapToGrid="0">
      <p:cViewPr>
        <p:scale>
          <a:sx n="75" d="100"/>
          <a:sy n="75" d="100"/>
        </p:scale>
        <p:origin x="115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691819-8AA5-4A7A-8710-57D7D9803828}" type="datetimeFigureOut">
              <a:rPr lang="en-US" smtClean="0"/>
              <a:t>2/16/2023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619D6C-8E9C-47F1-B852-51CC63B9B10A}" type="slidenum">
              <a:rPr lang="en-US" smtClean="0"/>
              <a:t>‹#›</a:t>
            </a:fld>
            <a:endParaRPr lang="en-US"/>
          </a:p>
        </p:txBody>
      </p:sp>
    </p:spTree>
    <p:extLst>
      <p:ext uri="{BB962C8B-B14F-4D97-AF65-F5344CB8AC3E}">
        <p14:creationId xmlns:p14="http://schemas.microsoft.com/office/powerpoint/2010/main" val="2571468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thermally</a:t>
            </a:r>
            <a:r>
              <a:rPr lang="en-US" baseline="0" dirty="0" smtClean="0"/>
              <a:t> heterogeneous environments, we would expect animals to find cooler habitat in response to warming. For terrestrial ectotherms, this may be as simple as moving into the shade or under a rock – there is still oxygen there. For fish however, available cold water can be unsuitable in other aspects, like dissolved oxygen. </a:t>
            </a:r>
          </a:p>
          <a:p>
            <a:r>
              <a:rPr lang="en-US" dirty="0" smtClean="0"/>
              <a:t>The temperature oxygen squeeze is</a:t>
            </a:r>
            <a:r>
              <a:rPr lang="en-US" baseline="0" dirty="0" smtClean="0"/>
              <a:t> often discussed in the context of larger water bodies like marine environments, lakes, and reservoirs where fish are constrained both by warmer surface temperatures, and periodically to consistent hypoxia or anoxia at depth. However, we are interested in how this dynamic may play out in smaller bodies of water on river floodplains. </a:t>
            </a:r>
          </a:p>
          <a:p>
            <a:endParaRPr lang="en-US" baseline="0" dirty="0" smtClean="0"/>
          </a:p>
          <a:p>
            <a:r>
              <a:rPr lang="en-US" baseline="0" dirty="0" err="1" smtClean="0"/>
              <a:t>Metalimnion</a:t>
            </a:r>
            <a:r>
              <a:rPr lang="en-US" baseline="0" dirty="0" smtClean="0"/>
              <a:t>/thermocline is where you get both do and temp, we wanted to see if they were holding in this zone. </a:t>
            </a:r>
            <a:endParaRPr lang="en-US" dirty="0" smtClean="0"/>
          </a:p>
          <a:p>
            <a:endParaRPr lang="en-US" dirty="0"/>
          </a:p>
        </p:txBody>
      </p:sp>
      <p:sp>
        <p:nvSpPr>
          <p:cNvPr id="4" name="Slide Number Placeholder 3"/>
          <p:cNvSpPr>
            <a:spLocks noGrp="1"/>
          </p:cNvSpPr>
          <p:nvPr>
            <p:ph type="sldNum" sz="quarter" idx="10"/>
          </p:nvPr>
        </p:nvSpPr>
        <p:spPr/>
        <p:txBody>
          <a:bodyPr/>
          <a:lstStyle/>
          <a:p>
            <a:fld id="{C7559860-5C32-4628-A6E8-E731533B3C4B}" type="slidenum">
              <a:rPr lang="en-US" smtClean="0"/>
              <a:t>2</a:t>
            </a:fld>
            <a:endParaRPr lang="en-US"/>
          </a:p>
        </p:txBody>
      </p:sp>
    </p:spTree>
    <p:extLst>
      <p:ext uri="{BB962C8B-B14F-4D97-AF65-F5344CB8AC3E}">
        <p14:creationId xmlns:p14="http://schemas.microsoft.com/office/powerpoint/2010/main" val="2166457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During our time working in these alcoves, w</a:t>
            </a:r>
            <a:r>
              <a:rPr lang="en-US" baseline="0" dirty="0" smtClean="0"/>
              <a:t>e noticed that fish appeared to consistently hold at a certain depth, and that depth appeared to correspond with the thermocline and </a:t>
            </a:r>
            <a:r>
              <a:rPr lang="en-US" baseline="0" dirty="0" err="1" smtClean="0"/>
              <a:t>oxycline</a:t>
            </a:r>
            <a:r>
              <a:rPr lang="en-US" baseline="0" dirty="0" smtClean="0"/>
              <a:t>. So we designed a study where we used a fine gauge rapid response thermocouple to take subdermal temperatures of fish we captured within select coldwater alcoves – since fish are ectothermic their internal </a:t>
            </a:r>
            <a:r>
              <a:rPr lang="en-US" baseline="0" dirty="0" err="1" smtClean="0"/>
              <a:t>tempertures</a:t>
            </a:r>
            <a:r>
              <a:rPr lang="en-US" baseline="0" dirty="0" smtClean="0"/>
              <a:t> should reflect the water temperature they were holding in. Fish were captured using electrofishing and immediately tested for internal temperature while still under electrical narcosis (~15 seconds). A handheld YSI was then used to measure the vertical profile of do/temperature where the fish was captured. </a:t>
            </a:r>
          </a:p>
          <a:p>
            <a:endParaRPr lang="en-US" baseline="0" dirty="0" smtClean="0"/>
          </a:p>
          <a:p>
            <a:r>
              <a:rPr lang="en-US" baseline="0" dirty="0" smtClean="0"/>
              <a:t>Tried all kinds of things that didn’t work…ARIS clip</a:t>
            </a:r>
          </a:p>
          <a:p>
            <a:endParaRPr lang="en-US" baseline="0" dirty="0" smtClean="0"/>
          </a:p>
          <a:p>
            <a:r>
              <a:rPr lang="en-US" baseline="0" dirty="0" smtClean="0"/>
              <a:t>Make points larger</a:t>
            </a:r>
            <a:endParaRPr lang="en-US" dirty="0"/>
          </a:p>
        </p:txBody>
      </p:sp>
      <p:sp>
        <p:nvSpPr>
          <p:cNvPr id="4" name="Slide Number Placeholder 3"/>
          <p:cNvSpPr>
            <a:spLocks noGrp="1"/>
          </p:cNvSpPr>
          <p:nvPr>
            <p:ph type="sldNum" sz="quarter" idx="10"/>
          </p:nvPr>
        </p:nvSpPr>
        <p:spPr/>
        <p:txBody>
          <a:bodyPr/>
          <a:lstStyle/>
          <a:p>
            <a:fld id="{E0C105E1-481C-4CF0-BB11-F52A7EB40336}" type="slidenum">
              <a:rPr lang="en-US" smtClean="0"/>
              <a:t>3</a:t>
            </a:fld>
            <a:endParaRPr lang="en-US"/>
          </a:p>
        </p:txBody>
      </p:sp>
    </p:spTree>
    <p:extLst>
      <p:ext uri="{BB962C8B-B14F-4D97-AF65-F5344CB8AC3E}">
        <p14:creationId xmlns:p14="http://schemas.microsoft.com/office/powerpoint/2010/main" val="4231496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we designed a study where</a:t>
            </a:r>
            <a:r>
              <a:rPr lang="en-US" baseline="0" dirty="0" smtClean="0"/>
              <a:t> we externally attached waterproofed temperature recording </a:t>
            </a:r>
            <a:r>
              <a:rPr lang="en-US" baseline="0" dirty="0" err="1" smtClean="0"/>
              <a:t>ibuttons</a:t>
            </a:r>
            <a:r>
              <a:rPr lang="en-US" baseline="0" dirty="0" smtClean="0"/>
              <a:t> to fish captured in two coldwater alcoves, and released these fish in large </a:t>
            </a:r>
            <a:r>
              <a:rPr lang="en-US" baseline="0" dirty="0" err="1" smtClean="0"/>
              <a:t>netpens</a:t>
            </a:r>
            <a:r>
              <a:rPr lang="en-US" baseline="0" dirty="0" smtClean="0"/>
              <a:t> that spanned the entire depth of the alcove. An array of temperature and dissolved oxygen loggers set outside of the </a:t>
            </a:r>
            <a:r>
              <a:rPr lang="en-US" baseline="0" dirty="0" err="1" smtClean="0"/>
              <a:t>netpen</a:t>
            </a:r>
            <a:r>
              <a:rPr lang="en-US" baseline="0" dirty="0" smtClean="0"/>
              <a:t> continually recorded these physiochemical variables</a:t>
            </a:r>
            <a:endParaRPr lang="en-US" dirty="0"/>
          </a:p>
        </p:txBody>
      </p:sp>
      <p:sp>
        <p:nvSpPr>
          <p:cNvPr id="4" name="Slide Number Placeholder 3"/>
          <p:cNvSpPr>
            <a:spLocks noGrp="1"/>
          </p:cNvSpPr>
          <p:nvPr>
            <p:ph type="sldNum" sz="quarter" idx="10"/>
          </p:nvPr>
        </p:nvSpPr>
        <p:spPr/>
        <p:txBody>
          <a:bodyPr/>
          <a:lstStyle/>
          <a:p>
            <a:fld id="{E0C105E1-481C-4CF0-BB11-F52A7EB40336}" type="slidenum">
              <a:rPr lang="en-US" smtClean="0"/>
              <a:t>7</a:t>
            </a:fld>
            <a:endParaRPr lang="en-US"/>
          </a:p>
        </p:txBody>
      </p:sp>
    </p:spTree>
    <p:extLst>
      <p:ext uri="{BB962C8B-B14F-4D97-AF65-F5344CB8AC3E}">
        <p14:creationId xmlns:p14="http://schemas.microsoft.com/office/powerpoint/2010/main" val="1270970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BBD05B2-C4AA-44A4-AC74-DC39DCA6EE81}"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11BCE9-FFAA-4FDA-9B6F-4EE472C6B7A5}" type="slidenum">
              <a:rPr lang="en-US" smtClean="0"/>
              <a:t>‹#›</a:t>
            </a:fld>
            <a:endParaRPr lang="en-US"/>
          </a:p>
        </p:txBody>
      </p:sp>
    </p:spTree>
    <p:extLst>
      <p:ext uri="{BB962C8B-B14F-4D97-AF65-F5344CB8AC3E}">
        <p14:creationId xmlns:p14="http://schemas.microsoft.com/office/powerpoint/2010/main" val="3797340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BD05B2-C4AA-44A4-AC74-DC39DCA6EE81}"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11BCE9-FFAA-4FDA-9B6F-4EE472C6B7A5}" type="slidenum">
              <a:rPr lang="en-US" smtClean="0"/>
              <a:t>‹#›</a:t>
            </a:fld>
            <a:endParaRPr lang="en-US"/>
          </a:p>
        </p:txBody>
      </p:sp>
    </p:spTree>
    <p:extLst>
      <p:ext uri="{BB962C8B-B14F-4D97-AF65-F5344CB8AC3E}">
        <p14:creationId xmlns:p14="http://schemas.microsoft.com/office/powerpoint/2010/main" val="2147423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BBD05B2-C4AA-44A4-AC74-DC39DCA6EE81}"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11BCE9-FFAA-4FDA-9B6F-4EE472C6B7A5}" type="slidenum">
              <a:rPr lang="en-US" smtClean="0"/>
              <a:t>‹#›</a:t>
            </a:fld>
            <a:endParaRPr lang="en-US"/>
          </a:p>
        </p:txBody>
      </p:sp>
    </p:spTree>
    <p:extLst>
      <p:ext uri="{BB962C8B-B14F-4D97-AF65-F5344CB8AC3E}">
        <p14:creationId xmlns:p14="http://schemas.microsoft.com/office/powerpoint/2010/main" val="1436747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BBD05B2-C4AA-44A4-AC74-DC39DCA6EE81}" type="datetimeFigureOut">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11BCE9-FFAA-4FDA-9B6F-4EE472C6B7A5}" type="slidenum">
              <a:rPr lang="en-US" smtClean="0"/>
              <a:t>‹#›</a:t>
            </a:fld>
            <a:endParaRPr lang="en-US"/>
          </a:p>
        </p:txBody>
      </p:sp>
    </p:spTree>
    <p:extLst>
      <p:ext uri="{BB962C8B-B14F-4D97-AF65-F5344CB8AC3E}">
        <p14:creationId xmlns:p14="http://schemas.microsoft.com/office/powerpoint/2010/main" val="441827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BBD05B2-C4AA-44A4-AC74-DC39DCA6EE81}" type="datetimeFigureOut">
              <a:rPr lang="en-US" smtClean="0"/>
              <a:t>2/16/2023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11BCE9-FFAA-4FDA-9B6F-4EE472C6B7A5}" type="slidenum">
              <a:rPr lang="en-US" smtClean="0"/>
              <a:t>‹#›</a:t>
            </a:fld>
            <a:endParaRPr lang="en-US"/>
          </a:p>
        </p:txBody>
      </p:sp>
    </p:spTree>
    <p:extLst>
      <p:ext uri="{BB962C8B-B14F-4D97-AF65-F5344CB8AC3E}">
        <p14:creationId xmlns:p14="http://schemas.microsoft.com/office/powerpoint/2010/main" val="1151500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BBD05B2-C4AA-44A4-AC74-DC39DCA6EE81}" type="datetimeFigureOut">
              <a:rPr lang="en-US" smtClean="0"/>
              <a:t>2/16/2023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11BCE9-FFAA-4FDA-9B6F-4EE472C6B7A5}" type="slidenum">
              <a:rPr lang="en-US" smtClean="0"/>
              <a:t>‹#›</a:t>
            </a:fld>
            <a:endParaRPr lang="en-US"/>
          </a:p>
        </p:txBody>
      </p:sp>
    </p:spTree>
    <p:extLst>
      <p:ext uri="{BB962C8B-B14F-4D97-AF65-F5344CB8AC3E}">
        <p14:creationId xmlns:p14="http://schemas.microsoft.com/office/powerpoint/2010/main" val="2653891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BD05B2-C4AA-44A4-AC74-DC39DCA6EE81}" type="datetimeFigureOut">
              <a:rPr lang="en-US" smtClean="0"/>
              <a:t>2/16/2023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11BCE9-FFAA-4FDA-9B6F-4EE472C6B7A5}" type="slidenum">
              <a:rPr lang="en-US" smtClean="0"/>
              <a:t>‹#›</a:t>
            </a:fld>
            <a:endParaRPr lang="en-US"/>
          </a:p>
        </p:txBody>
      </p:sp>
    </p:spTree>
    <p:extLst>
      <p:ext uri="{BB962C8B-B14F-4D97-AF65-F5344CB8AC3E}">
        <p14:creationId xmlns:p14="http://schemas.microsoft.com/office/powerpoint/2010/main" val="4221839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BBD05B2-C4AA-44A4-AC74-DC39DCA6EE81}" type="datetimeFigureOut">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11BCE9-FFAA-4FDA-9B6F-4EE472C6B7A5}" type="slidenum">
              <a:rPr lang="en-US" smtClean="0"/>
              <a:t>‹#›</a:t>
            </a:fld>
            <a:endParaRPr lang="en-US"/>
          </a:p>
        </p:txBody>
      </p:sp>
    </p:spTree>
    <p:extLst>
      <p:ext uri="{BB962C8B-B14F-4D97-AF65-F5344CB8AC3E}">
        <p14:creationId xmlns:p14="http://schemas.microsoft.com/office/powerpoint/2010/main" val="2466187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BBD05B2-C4AA-44A4-AC74-DC39DCA6EE81}" type="datetimeFigureOut">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11BCE9-FFAA-4FDA-9B6F-4EE472C6B7A5}" type="slidenum">
              <a:rPr lang="en-US" smtClean="0"/>
              <a:t>‹#›</a:t>
            </a:fld>
            <a:endParaRPr lang="en-US"/>
          </a:p>
        </p:txBody>
      </p:sp>
    </p:spTree>
    <p:extLst>
      <p:ext uri="{BB962C8B-B14F-4D97-AF65-F5344CB8AC3E}">
        <p14:creationId xmlns:p14="http://schemas.microsoft.com/office/powerpoint/2010/main" val="552735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BD05B2-C4AA-44A4-AC74-DC39DCA6EE81}"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11BCE9-FFAA-4FDA-9B6F-4EE472C6B7A5}" type="slidenum">
              <a:rPr lang="en-US" smtClean="0"/>
              <a:t>‹#›</a:t>
            </a:fld>
            <a:endParaRPr lang="en-US"/>
          </a:p>
        </p:txBody>
      </p:sp>
    </p:spTree>
    <p:extLst>
      <p:ext uri="{BB962C8B-B14F-4D97-AF65-F5344CB8AC3E}">
        <p14:creationId xmlns:p14="http://schemas.microsoft.com/office/powerpoint/2010/main" val="1791253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BD05B2-C4AA-44A4-AC74-DC39DCA6EE81}"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11BCE9-FFAA-4FDA-9B6F-4EE472C6B7A5}" type="slidenum">
              <a:rPr lang="en-US" smtClean="0"/>
              <a:t>‹#›</a:t>
            </a:fld>
            <a:endParaRPr lang="en-US"/>
          </a:p>
        </p:txBody>
      </p:sp>
    </p:spTree>
    <p:extLst>
      <p:ext uri="{BB962C8B-B14F-4D97-AF65-F5344CB8AC3E}">
        <p14:creationId xmlns:p14="http://schemas.microsoft.com/office/powerpoint/2010/main" val="262042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BD05B2-C4AA-44A4-AC74-DC39DCA6EE81}" type="datetimeFigureOut">
              <a:rPr lang="en-US" smtClean="0"/>
              <a:t>2/16/2023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11BCE9-FFAA-4FDA-9B6F-4EE472C6B7A5}" type="slidenum">
              <a:rPr lang="en-US" smtClean="0"/>
              <a:t>‹#›</a:t>
            </a:fld>
            <a:endParaRPr lang="en-US"/>
          </a:p>
        </p:txBody>
      </p:sp>
    </p:spTree>
    <p:extLst>
      <p:ext uri="{BB962C8B-B14F-4D97-AF65-F5344CB8AC3E}">
        <p14:creationId xmlns:p14="http://schemas.microsoft.com/office/powerpoint/2010/main" val="9648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1967" y="1082844"/>
            <a:ext cx="9144000" cy="4496552"/>
          </a:xfrm>
        </p:spPr>
        <p:txBody>
          <a:bodyPr>
            <a:normAutofit/>
          </a:bodyPr>
          <a:lstStyle/>
          <a:p>
            <a:r>
              <a:rPr lang="en-US" dirty="0" smtClean="0"/>
              <a:t>Coldwater fish navigate fine scale diel variation in dissolved oxygen and temperature in a floodplain thermal refuge habitat</a:t>
            </a:r>
            <a:endParaRPr lang="en-US" dirty="0"/>
          </a:p>
        </p:txBody>
      </p:sp>
    </p:spTree>
    <p:extLst>
      <p:ext uri="{BB962C8B-B14F-4D97-AF65-F5344CB8AC3E}">
        <p14:creationId xmlns:p14="http://schemas.microsoft.com/office/powerpoint/2010/main" val="1508734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738983" y="1457325"/>
            <a:ext cx="3200065" cy="3466065"/>
          </a:xfrm>
          <a:prstGeom prst="rect">
            <a:avLst/>
          </a:prstGeom>
        </p:spPr>
      </p:pic>
      <p:pic>
        <p:nvPicPr>
          <p:cNvPr id="5" name="Picture 4"/>
          <p:cNvPicPr>
            <a:picLocks noChangeAspect="1"/>
          </p:cNvPicPr>
          <p:nvPr/>
        </p:nvPicPr>
        <p:blipFill>
          <a:blip r:embed="rId4"/>
          <a:stretch>
            <a:fillRect/>
          </a:stretch>
        </p:blipFill>
        <p:spPr>
          <a:xfrm>
            <a:off x="6702648" y="1457325"/>
            <a:ext cx="4674600" cy="3945362"/>
          </a:xfrm>
          <a:prstGeom prst="rect">
            <a:avLst/>
          </a:prstGeom>
        </p:spPr>
      </p:pic>
      <p:sp>
        <p:nvSpPr>
          <p:cNvPr id="6" name="TextBox 5"/>
          <p:cNvSpPr txBox="1"/>
          <p:nvPr/>
        </p:nvSpPr>
        <p:spPr>
          <a:xfrm>
            <a:off x="2666246" y="492232"/>
            <a:ext cx="6859507" cy="769441"/>
          </a:xfrm>
          <a:prstGeom prst="rect">
            <a:avLst/>
          </a:prstGeom>
          <a:noFill/>
        </p:spPr>
        <p:txBody>
          <a:bodyPr wrap="none" rtlCol="0">
            <a:spAutoFit/>
          </a:bodyPr>
          <a:lstStyle/>
          <a:p>
            <a:r>
              <a:rPr lang="en-US" sz="4400" dirty="0" smtClean="0"/>
              <a:t>Temperature oxygen squeeze</a:t>
            </a:r>
            <a:endParaRPr lang="en-US" sz="4400" dirty="0"/>
          </a:p>
        </p:txBody>
      </p:sp>
      <p:pic>
        <p:nvPicPr>
          <p:cNvPr id="8" name="Picture 7"/>
          <p:cNvPicPr>
            <a:picLocks noChangeAspect="1"/>
          </p:cNvPicPr>
          <p:nvPr/>
        </p:nvPicPr>
        <p:blipFill rotWithShape="1">
          <a:blip r:embed="rId5"/>
          <a:srcRect b="15005"/>
          <a:stretch/>
        </p:blipFill>
        <p:spPr>
          <a:xfrm>
            <a:off x="1738983" y="5119042"/>
            <a:ext cx="4138748" cy="1395261"/>
          </a:xfrm>
          <a:prstGeom prst="rect">
            <a:avLst/>
          </a:prstGeom>
        </p:spPr>
      </p:pic>
      <p:pic>
        <p:nvPicPr>
          <p:cNvPr id="9" name="Picture 8"/>
          <p:cNvPicPr>
            <a:picLocks noChangeAspect="1"/>
          </p:cNvPicPr>
          <p:nvPr/>
        </p:nvPicPr>
        <p:blipFill>
          <a:blip r:embed="rId6"/>
          <a:stretch>
            <a:fillRect/>
          </a:stretch>
        </p:blipFill>
        <p:spPr>
          <a:xfrm>
            <a:off x="6702648" y="5478824"/>
            <a:ext cx="4306373" cy="1035710"/>
          </a:xfrm>
          <a:prstGeom prst="rect">
            <a:avLst/>
          </a:prstGeom>
        </p:spPr>
      </p:pic>
    </p:spTree>
    <p:extLst>
      <p:ext uri="{BB962C8B-B14F-4D97-AF65-F5344CB8AC3E}">
        <p14:creationId xmlns:p14="http://schemas.microsoft.com/office/powerpoint/2010/main" val="20953024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imelapseTelemetr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687021" y="168477"/>
            <a:ext cx="4817958" cy="2711425"/>
          </a:xfrm>
          <a:prstGeom prst="rect">
            <a:avLst/>
          </a:prstGeom>
        </p:spPr>
      </p:pic>
      <p:cxnSp>
        <p:nvCxnSpPr>
          <p:cNvPr id="5" name="Straight Connector 4"/>
          <p:cNvCxnSpPr/>
          <p:nvPr/>
        </p:nvCxnSpPr>
        <p:spPr>
          <a:xfrm>
            <a:off x="3721693" y="837487"/>
            <a:ext cx="4747189" cy="786214"/>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6"/>
          <a:stretch>
            <a:fillRect/>
          </a:stretch>
        </p:blipFill>
        <p:spPr>
          <a:xfrm>
            <a:off x="9556296" y="3269796"/>
            <a:ext cx="2635704" cy="2635704"/>
          </a:xfrm>
          <a:prstGeom prst="rect">
            <a:avLst/>
          </a:prstGeom>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67802" y="2879902"/>
            <a:ext cx="6054969" cy="3632981"/>
          </a:xfrm>
          <a:prstGeom prst="rect">
            <a:avLst/>
          </a:prstGeom>
        </p:spPr>
      </p:pic>
    </p:spTree>
    <p:extLst>
      <p:ext uri="{BB962C8B-B14F-4D97-AF65-F5344CB8AC3E}">
        <p14:creationId xmlns:p14="http://schemas.microsoft.com/office/powerpoint/2010/main" val="105099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600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with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mute="1">
                <p:cTn id="12" fill="hold" display="0">
                  <p:stCondLst>
                    <p:cond delay="indefinite"/>
                  </p:stCondLst>
                </p:cTn>
                <p:tgtEl>
                  <p:spTgt spid="2"/>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120" y="173412"/>
            <a:ext cx="11511959" cy="6578262"/>
          </a:xfrm>
          <a:prstGeom prst="rect">
            <a:avLst/>
          </a:prstGeom>
        </p:spPr>
      </p:pic>
    </p:spTree>
    <p:extLst>
      <p:ext uri="{BB962C8B-B14F-4D97-AF65-F5344CB8AC3E}">
        <p14:creationId xmlns:p14="http://schemas.microsoft.com/office/powerpoint/2010/main" val="3195288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4581" y="284078"/>
            <a:ext cx="10616213" cy="6369728"/>
          </a:xfrm>
          <a:prstGeom prst="rect">
            <a:avLst/>
          </a:prstGeom>
        </p:spPr>
      </p:pic>
      <p:sp>
        <p:nvSpPr>
          <p:cNvPr id="6" name="Left Brace 5"/>
          <p:cNvSpPr/>
          <p:nvPr/>
        </p:nvSpPr>
        <p:spPr>
          <a:xfrm>
            <a:off x="1261367" y="932148"/>
            <a:ext cx="292964" cy="2911876"/>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Left Brace 6"/>
          <p:cNvSpPr/>
          <p:nvPr/>
        </p:nvSpPr>
        <p:spPr>
          <a:xfrm>
            <a:off x="1243615" y="4076324"/>
            <a:ext cx="292964" cy="1924975"/>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94965" y="2249586"/>
            <a:ext cx="1159741" cy="276999"/>
          </a:xfrm>
          <a:prstGeom prst="rect">
            <a:avLst/>
          </a:prstGeom>
          <a:noFill/>
        </p:spPr>
        <p:txBody>
          <a:bodyPr wrap="none" rtlCol="0">
            <a:spAutoFit/>
          </a:bodyPr>
          <a:lstStyle/>
          <a:p>
            <a:r>
              <a:rPr lang="en-US" sz="1200" dirty="0" smtClean="0">
                <a:latin typeface="Times New Roman" panose="02020603050405020304" pitchFamily="18" charset="0"/>
                <a:cs typeface="Times New Roman" panose="02020603050405020304" pitchFamily="18" charset="0"/>
              </a:rPr>
              <a:t>Temperature ℃</a:t>
            </a:r>
            <a:endParaRPr lang="en-US" sz="12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248108" y="4807978"/>
            <a:ext cx="1141989" cy="461665"/>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Dissolved oxygen mg/L</a:t>
            </a:r>
            <a:endParaRPr lang="en-US" sz="12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1743740" y="382773"/>
            <a:ext cx="2961323" cy="369332"/>
          </a:xfrm>
          <a:prstGeom prst="rect">
            <a:avLst/>
          </a:prstGeom>
          <a:noFill/>
        </p:spPr>
        <p:txBody>
          <a:bodyPr wrap="none" rtlCol="0">
            <a:spAutoFit/>
          </a:bodyPr>
          <a:lstStyle/>
          <a:p>
            <a:r>
              <a:rPr lang="en-US" dirty="0" smtClean="0"/>
              <a:t>Norwood </a:t>
            </a:r>
            <a:r>
              <a:rPr lang="en-US" dirty="0" err="1" smtClean="0"/>
              <a:t>netpen</a:t>
            </a:r>
            <a:r>
              <a:rPr lang="en-US" dirty="0" smtClean="0"/>
              <a:t> logger array</a:t>
            </a:r>
            <a:endParaRPr lang="en-US" dirty="0"/>
          </a:p>
        </p:txBody>
      </p:sp>
    </p:spTree>
    <p:extLst>
      <p:ext uri="{BB962C8B-B14F-4D97-AF65-F5344CB8AC3E}">
        <p14:creationId xmlns:p14="http://schemas.microsoft.com/office/powerpoint/2010/main" val="2861391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6503" y="878890"/>
            <a:ext cx="10236954" cy="5395728"/>
          </a:xfrm>
        </p:spPr>
      </p:pic>
      <p:sp>
        <p:nvSpPr>
          <p:cNvPr id="6" name="Left Brace 5"/>
          <p:cNvSpPr/>
          <p:nvPr/>
        </p:nvSpPr>
        <p:spPr>
          <a:xfrm>
            <a:off x="1318674" y="1707463"/>
            <a:ext cx="332667" cy="2334827"/>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Left Brace 6"/>
          <p:cNvSpPr/>
          <p:nvPr/>
        </p:nvSpPr>
        <p:spPr>
          <a:xfrm>
            <a:off x="1369967" y="4352047"/>
            <a:ext cx="230079" cy="1376035"/>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189609" y="2718620"/>
            <a:ext cx="1311378"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Temperature ℃</a:t>
            </a:r>
            <a:endParaRPr lang="en-US" sz="12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376758" y="4809233"/>
            <a:ext cx="1141989" cy="461665"/>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Dissolved oxygen mg/L</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8964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p:cNvPicPr>
            <a:picLocks noChangeAspect="1"/>
          </p:cNvPicPr>
          <p:nvPr/>
        </p:nvPicPr>
        <p:blipFill>
          <a:blip r:embed="rId3"/>
          <a:stretch>
            <a:fillRect/>
          </a:stretch>
        </p:blipFill>
        <p:spPr>
          <a:xfrm>
            <a:off x="6839459" y="1333469"/>
            <a:ext cx="4691633" cy="4191061"/>
          </a:xfrm>
          <a:prstGeom prst="rect">
            <a:avLst/>
          </a:prstGeom>
        </p:spPr>
      </p:pic>
      <p:pic>
        <p:nvPicPr>
          <p:cNvPr id="7" name="Picture 6"/>
          <p:cNvPicPr>
            <a:picLocks noChangeAspect="1"/>
          </p:cNvPicPr>
          <p:nvPr/>
        </p:nvPicPr>
        <p:blipFill>
          <a:blip r:embed="rId4"/>
          <a:stretch>
            <a:fillRect/>
          </a:stretch>
        </p:blipFill>
        <p:spPr>
          <a:xfrm rot="164234">
            <a:off x="914145" y="1106760"/>
            <a:ext cx="5283455" cy="2107878"/>
          </a:xfrm>
          <a:prstGeom prst="rect">
            <a:avLst/>
          </a:prstGeom>
        </p:spPr>
      </p:pic>
    </p:spTree>
    <p:extLst>
      <p:ext uri="{BB962C8B-B14F-4D97-AF65-F5344CB8AC3E}">
        <p14:creationId xmlns:p14="http://schemas.microsoft.com/office/powerpoint/2010/main" val="16721345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1328" y="808074"/>
            <a:ext cx="7723667" cy="5149111"/>
          </a:xfrm>
          <a:prstGeom prst="rect">
            <a:avLst/>
          </a:prstGeom>
        </p:spPr>
      </p:pic>
    </p:spTree>
    <p:extLst>
      <p:ext uri="{BB962C8B-B14F-4D97-AF65-F5344CB8AC3E}">
        <p14:creationId xmlns:p14="http://schemas.microsoft.com/office/powerpoint/2010/main" val="603522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402" y="181233"/>
            <a:ext cx="9641359" cy="6427573"/>
          </a:xfrm>
          <a:prstGeom prst="rect">
            <a:avLst/>
          </a:prstGeom>
        </p:spPr>
      </p:pic>
    </p:spTree>
    <p:extLst>
      <p:ext uri="{BB962C8B-B14F-4D97-AF65-F5344CB8AC3E}">
        <p14:creationId xmlns:p14="http://schemas.microsoft.com/office/powerpoint/2010/main" val="3689513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9949" y="1573427"/>
            <a:ext cx="5448300" cy="36322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8239" y="1596767"/>
            <a:ext cx="5413291" cy="3608860"/>
          </a:xfrm>
          <a:prstGeom prst="rect">
            <a:avLst/>
          </a:prstGeom>
        </p:spPr>
      </p:pic>
      <p:sp>
        <p:nvSpPr>
          <p:cNvPr id="4" name="TextBox 3"/>
          <p:cNvSpPr txBox="1"/>
          <p:nvPr/>
        </p:nvSpPr>
        <p:spPr>
          <a:xfrm>
            <a:off x="309949" y="502508"/>
            <a:ext cx="4898970" cy="369332"/>
          </a:xfrm>
          <a:prstGeom prst="rect">
            <a:avLst/>
          </a:prstGeom>
          <a:noFill/>
        </p:spPr>
        <p:txBody>
          <a:bodyPr wrap="none" rtlCol="0">
            <a:spAutoFit/>
          </a:bodyPr>
          <a:lstStyle/>
          <a:p>
            <a:r>
              <a:rPr lang="en-US" dirty="0" smtClean="0"/>
              <a:t>Individual and intra-individual behavioral variation</a:t>
            </a:r>
            <a:endParaRPr lang="en-US" dirty="0"/>
          </a:p>
        </p:txBody>
      </p:sp>
      <p:sp>
        <p:nvSpPr>
          <p:cNvPr id="5" name="TextBox 4"/>
          <p:cNvSpPr txBox="1"/>
          <p:nvPr/>
        </p:nvSpPr>
        <p:spPr>
          <a:xfrm>
            <a:off x="309949" y="871840"/>
            <a:ext cx="9417002" cy="369332"/>
          </a:xfrm>
          <a:prstGeom prst="rect">
            <a:avLst/>
          </a:prstGeom>
          <a:noFill/>
        </p:spPr>
        <p:txBody>
          <a:bodyPr wrap="none" rtlCol="0">
            <a:spAutoFit/>
          </a:bodyPr>
          <a:lstStyle/>
          <a:p>
            <a:r>
              <a:rPr lang="en-US" dirty="0" smtClean="0"/>
              <a:t>Fine scale vertical migration persists, extended time in </a:t>
            </a:r>
            <a:r>
              <a:rPr lang="en-US" dirty="0" err="1" smtClean="0"/>
              <a:t>hypolimnion</a:t>
            </a:r>
            <a:r>
              <a:rPr lang="en-US" dirty="0" smtClean="0"/>
              <a:t> and reduced vertical amplitude</a:t>
            </a:r>
            <a:endParaRPr lang="en-US" dirty="0"/>
          </a:p>
        </p:txBody>
      </p:sp>
    </p:spTree>
    <p:extLst>
      <p:ext uri="{BB962C8B-B14F-4D97-AF65-F5344CB8AC3E}">
        <p14:creationId xmlns:p14="http://schemas.microsoft.com/office/powerpoint/2010/main" val="3953380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815546"/>
            <a:ext cx="2338204" cy="369332"/>
          </a:xfrm>
          <a:prstGeom prst="rect">
            <a:avLst/>
          </a:prstGeom>
          <a:noFill/>
        </p:spPr>
        <p:txBody>
          <a:bodyPr wrap="none" rtlCol="0">
            <a:spAutoFit/>
          </a:bodyPr>
          <a:lstStyle/>
          <a:p>
            <a:r>
              <a:rPr lang="en-US" dirty="0" smtClean="0"/>
              <a:t>Step selection function</a:t>
            </a:r>
            <a:endParaRPr lang="en-US" dirty="0"/>
          </a:p>
        </p:txBody>
      </p:sp>
    </p:spTree>
    <p:extLst>
      <p:ext uri="{BB962C8B-B14F-4D97-AF65-F5344CB8AC3E}">
        <p14:creationId xmlns:p14="http://schemas.microsoft.com/office/powerpoint/2010/main" val="1166837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584" r="3789"/>
          <a:stretch/>
        </p:blipFill>
        <p:spPr>
          <a:xfrm>
            <a:off x="571500" y="588475"/>
            <a:ext cx="10790599" cy="5678975"/>
          </a:xfrm>
          <a:prstGeom prst="rect">
            <a:avLst/>
          </a:prstGeom>
        </p:spPr>
      </p:pic>
    </p:spTree>
    <p:extLst>
      <p:ext uri="{BB962C8B-B14F-4D97-AF65-F5344CB8AC3E}">
        <p14:creationId xmlns:p14="http://schemas.microsoft.com/office/powerpoint/2010/main" val="828104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2333" r="1199" b="712"/>
          <a:stretch/>
        </p:blipFill>
        <p:spPr>
          <a:xfrm>
            <a:off x="684799" y="618309"/>
            <a:ext cx="10854058" cy="5698820"/>
          </a:xfrm>
          <a:prstGeom prst="rect">
            <a:avLst/>
          </a:prstGeom>
        </p:spPr>
      </p:pic>
      <p:sp>
        <p:nvSpPr>
          <p:cNvPr id="3" name="Rectangle 2"/>
          <p:cNvSpPr/>
          <p:nvPr/>
        </p:nvSpPr>
        <p:spPr>
          <a:xfrm>
            <a:off x="8725989" y="618309"/>
            <a:ext cx="2934788" cy="2264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2290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1072" y="3813059"/>
            <a:ext cx="5043633" cy="2803073"/>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1071" y="529456"/>
            <a:ext cx="5043633" cy="2803073"/>
          </a:xfrm>
          <a:prstGeom prst="rect">
            <a:avLst/>
          </a:prstGeom>
        </p:spPr>
      </p:pic>
    </p:spTree>
    <p:extLst>
      <p:ext uri="{BB962C8B-B14F-4D97-AF65-F5344CB8AC3E}">
        <p14:creationId xmlns:p14="http://schemas.microsoft.com/office/powerpoint/2010/main" val="1275969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25665" y="3413564"/>
            <a:ext cx="5311109" cy="2951727"/>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5665" y="286454"/>
            <a:ext cx="5311108" cy="2951726"/>
          </a:xfrm>
          <a:prstGeom prst="rect">
            <a:avLst/>
          </a:prstGeom>
        </p:spPr>
      </p:pic>
    </p:spTree>
    <p:extLst>
      <p:ext uri="{BB962C8B-B14F-4D97-AF65-F5344CB8AC3E}">
        <p14:creationId xmlns:p14="http://schemas.microsoft.com/office/powerpoint/2010/main" val="2894060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890"/>
          <a:stretch/>
        </p:blipFill>
        <p:spPr>
          <a:xfrm>
            <a:off x="833438" y="737419"/>
            <a:ext cx="9658100" cy="5054414"/>
          </a:xfrm>
          <a:prstGeom prst="rect">
            <a:avLst/>
          </a:prstGeom>
        </p:spPr>
      </p:pic>
    </p:spTree>
    <p:extLst>
      <p:ext uri="{BB962C8B-B14F-4D97-AF65-F5344CB8AC3E}">
        <p14:creationId xmlns:p14="http://schemas.microsoft.com/office/powerpoint/2010/main" val="3804565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r="988" b="871"/>
          <a:stretch/>
        </p:blipFill>
        <p:spPr>
          <a:xfrm>
            <a:off x="800100" y="561975"/>
            <a:ext cx="10314410" cy="5410200"/>
          </a:xfrm>
          <a:prstGeom prst="rect">
            <a:avLst/>
          </a:prstGeom>
        </p:spPr>
      </p:pic>
    </p:spTree>
    <p:extLst>
      <p:ext uri="{BB962C8B-B14F-4D97-AF65-F5344CB8AC3E}">
        <p14:creationId xmlns:p14="http://schemas.microsoft.com/office/powerpoint/2010/main" val="261017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47605" y="3724282"/>
            <a:ext cx="4883835" cy="2714263"/>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47604" y="466178"/>
            <a:ext cx="4883835" cy="2714263"/>
          </a:xfrm>
          <a:prstGeom prst="rect">
            <a:avLst/>
          </a:prstGeom>
        </p:spPr>
      </p:pic>
    </p:spTree>
    <p:extLst>
      <p:ext uri="{BB962C8B-B14F-4D97-AF65-F5344CB8AC3E}">
        <p14:creationId xmlns:p14="http://schemas.microsoft.com/office/powerpoint/2010/main" val="2085462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40117" y="3582240"/>
            <a:ext cx="4911761" cy="2729783"/>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95450" y="443162"/>
            <a:ext cx="5001093" cy="2779431"/>
          </a:xfrm>
          <a:prstGeom prst="rect">
            <a:avLst/>
          </a:prstGeom>
        </p:spPr>
      </p:pic>
    </p:spTree>
    <p:extLst>
      <p:ext uri="{BB962C8B-B14F-4D97-AF65-F5344CB8AC3E}">
        <p14:creationId xmlns:p14="http://schemas.microsoft.com/office/powerpoint/2010/main" val="1436443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1861135"/>
            <a:ext cx="5801784" cy="4351338"/>
          </a:xfrm>
        </p:spPr>
      </p:pic>
    </p:spTree>
    <p:extLst>
      <p:ext uri="{BB962C8B-B14F-4D97-AF65-F5344CB8AC3E}">
        <p14:creationId xmlns:p14="http://schemas.microsoft.com/office/powerpoint/2010/main" val="3979196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westernnativetrout.org/wp-content/uploads/2019/07/coastal-cutthroa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8943" y="1975167"/>
            <a:ext cx="5852793" cy="233320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endParaRPr lang="en-US" dirty="0"/>
          </a:p>
        </p:txBody>
      </p:sp>
      <p:pic>
        <p:nvPicPr>
          <p:cNvPr id="15" name="Picture 14"/>
          <p:cNvPicPr>
            <a:picLocks noChangeAspect="1"/>
          </p:cNvPicPr>
          <p:nvPr/>
        </p:nvPicPr>
        <p:blipFill>
          <a:blip r:embed="rId3"/>
          <a:stretch>
            <a:fillRect/>
          </a:stretch>
        </p:blipFill>
        <p:spPr>
          <a:xfrm rot="202220">
            <a:off x="783336" y="2545954"/>
            <a:ext cx="4863826" cy="732295"/>
          </a:xfrm>
          <a:prstGeom prst="rect">
            <a:avLst/>
          </a:prstGeom>
        </p:spPr>
      </p:pic>
    </p:spTree>
    <p:extLst>
      <p:ext uri="{BB962C8B-B14F-4D97-AF65-F5344CB8AC3E}">
        <p14:creationId xmlns:p14="http://schemas.microsoft.com/office/powerpoint/2010/main" val="1433915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9411" y="1159921"/>
            <a:ext cx="7407368" cy="4939639"/>
          </a:xfrm>
          <a:prstGeom prst="rect">
            <a:avLst/>
          </a:prstGeom>
        </p:spPr>
      </p:pic>
    </p:spTree>
    <p:extLst>
      <p:ext uri="{BB962C8B-B14F-4D97-AF65-F5344CB8AC3E}">
        <p14:creationId xmlns:p14="http://schemas.microsoft.com/office/powerpoint/2010/main" val="1879584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87655" y="513590"/>
            <a:ext cx="3540154" cy="2862322"/>
          </a:xfrm>
          <a:prstGeom prst="rect">
            <a:avLst/>
          </a:prstGeom>
          <a:noFill/>
        </p:spPr>
        <p:txBody>
          <a:bodyPr wrap="square" rtlCol="0">
            <a:spAutoFit/>
          </a:bodyPr>
          <a:lstStyle/>
          <a:p>
            <a:r>
              <a:rPr lang="en-US" sz="2000" dirty="0" smtClean="0"/>
              <a:t>Detection efficiency 98%</a:t>
            </a:r>
          </a:p>
          <a:p>
            <a:r>
              <a:rPr lang="en-US" sz="1600" dirty="0" smtClean="0"/>
              <a:t>Calculated as #</a:t>
            </a:r>
            <a:r>
              <a:rPr lang="en-US" sz="1600" dirty="0" err="1" smtClean="0"/>
              <a:t>good_detections</a:t>
            </a:r>
            <a:r>
              <a:rPr lang="en-US" sz="1600" dirty="0" smtClean="0"/>
              <a:t>/(#</a:t>
            </a:r>
            <a:r>
              <a:rPr lang="en-US" sz="1600" dirty="0" err="1" smtClean="0"/>
              <a:t>good_detections</a:t>
            </a:r>
            <a:r>
              <a:rPr lang="en-US" sz="1600" dirty="0" smtClean="0"/>
              <a:t> + #</a:t>
            </a:r>
            <a:r>
              <a:rPr lang="en-US" sz="1600" dirty="0" err="1" smtClean="0"/>
              <a:t>missed_detections</a:t>
            </a:r>
            <a:r>
              <a:rPr lang="en-US" sz="1600" dirty="0" smtClean="0"/>
              <a:t>)</a:t>
            </a:r>
          </a:p>
          <a:p>
            <a:endParaRPr lang="en-US" sz="1600" dirty="0" smtClean="0"/>
          </a:p>
          <a:p>
            <a:r>
              <a:rPr lang="en-US" sz="1600" dirty="0" smtClean="0"/>
              <a:t>Where good detections are those where receiver was not skipped between reads (e.g. fish read at receiver 1 and then again at receiver 1 or 2 is good, whereas fish read at receiver 1 and next at receiver 3 is a miss)</a:t>
            </a:r>
            <a:endParaRPr lang="en-US" sz="1600"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9411" y="1159921"/>
            <a:ext cx="7407368" cy="4939639"/>
          </a:xfrm>
          <a:prstGeom prst="rect">
            <a:avLst/>
          </a:prstGeom>
        </p:spPr>
      </p:pic>
      <p:cxnSp>
        <p:nvCxnSpPr>
          <p:cNvPr id="5" name="Straight Connector 4"/>
          <p:cNvCxnSpPr/>
          <p:nvPr/>
        </p:nvCxnSpPr>
        <p:spPr>
          <a:xfrm>
            <a:off x="3537283" y="2454442"/>
            <a:ext cx="637674" cy="264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3886200" y="2908147"/>
            <a:ext cx="312821" cy="544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3994482" y="3579941"/>
            <a:ext cx="312821" cy="544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013200" y="4311650"/>
            <a:ext cx="378326" cy="1436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132634" y="4680202"/>
            <a:ext cx="282745" cy="985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4528022" y="4978841"/>
            <a:ext cx="75783" cy="24516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9977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0322" y="880632"/>
            <a:ext cx="4486381" cy="2391386"/>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2941" y="923221"/>
            <a:ext cx="4406482" cy="2348797"/>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0322" y="3916796"/>
            <a:ext cx="4486381" cy="2391385"/>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47481" y="3916796"/>
            <a:ext cx="4295509" cy="2289645"/>
          </a:xfrm>
          <a:prstGeom prst="rect">
            <a:avLst/>
          </a:prstGeom>
        </p:spPr>
      </p:pic>
    </p:spTree>
    <p:extLst>
      <p:ext uri="{BB962C8B-B14F-4D97-AF65-F5344CB8AC3E}">
        <p14:creationId xmlns:p14="http://schemas.microsoft.com/office/powerpoint/2010/main" val="287090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7409" y="448677"/>
            <a:ext cx="11197020" cy="5879933"/>
          </a:xfrm>
          <a:prstGeom prst="rect">
            <a:avLst/>
          </a:prstGeom>
        </p:spPr>
      </p:pic>
    </p:spTree>
    <p:extLst>
      <p:ext uri="{BB962C8B-B14F-4D97-AF65-F5344CB8AC3E}">
        <p14:creationId xmlns:p14="http://schemas.microsoft.com/office/powerpoint/2010/main" val="3491131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752" b="511"/>
          <a:stretch/>
        </p:blipFill>
        <p:spPr>
          <a:xfrm>
            <a:off x="871789" y="580912"/>
            <a:ext cx="10630401" cy="5561703"/>
          </a:xfrm>
          <a:prstGeom prst="rect">
            <a:avLst/>
          </a:prstGeom>
        </p:spPr>
      </p:pic>
    </p:spTree>
    <p:extLst>
      <p:ext uri="{BB962C8B-B14F-4D97-AF65-F5344CB8AC3E}">
        <p14:creationId xmlns:p14="http://schemas.microsoft.com/office/powerpoint/2010/main" val="23230651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7493" y="3433238"/>
            <a:ext cx="5989947" cy="3329001"/>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57493" y="104238"/>
            <a:ext cx="5989945" cy="3329000"/>
          </a:xfrm>
          <a:prstGeom prst="rect">
            <a:avLst/>
          </a:prstGeom>
        </p:spPr>
      </p:pic>
    </p:spTree>
    <p:extLst>
      <p:ext uri="{BB962C8B-B14F-4D97-AF65-F5344CB8AC3E}">
        <p14:creationId xmlns:p14="http://schemas.microsoft.com/office/powerpoint/2010/main" val="25415355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4667" y="590522"/>
            <a:ext cx="7231887" cy="4822393"/>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3090015647"/>
              </p:ext>
            </p:extLst>
          </p:nvPr>
        </p:nvGraphicFramePr>
        <p:xfrm>
          <a:off x="1674492" y="5509168"/>
          <a:ext cx="7712236" cy="673768"/>
        </p:xfrm>
        <a:graphic>
          <a:graphicData uri="http://schemas.openxmlformats.org/drawingml/2006/table">
            <a:tbl>
              <a:tblPr firstRow="1" firstCol="1" bandRow="1">
                <a:tableStyleId>{EB344D84-9AFB-497E-A393-DC336BA19D2E}</a:tableStyleId>
              </a:tblPr>
              <a:tblGrid>
                <a:gridCol w="621641">
                  <a:extLst>
                    <a:ext uri="{9D8B030D-6E8A-4147-A177-3AD203B41FA5}">
                      <a16:colId xmlns:a16="http://schemas.microsoft.com/office/drawing/2014/main" val="3229679711"/>
                    </a:ext>
                  </a:extLst>
                </a:gridCol>
                <a:gridCol w="245008">
                  <a:extLst>
                    <a:ext uri="{9D8B030D-6E8A-4147-A177-3AD203B41FA5}">
                      <a16:colId xmlns:a16="http://schemas.microsoft.com/office/drawing/2014/main" val="4142807363"/>
                    </a:ext>
                  </a:extLst>
                </a:gridCol>
                <a:gridCol w="245008">
                  <a:extLst>
                    <a:ext uri="{9D8B030D-6E8A-4147-A177-3AD203B41FA5}">
                      <a16:colId xmlns:a16="http://schemas.microsoft.com/office/drawing/2014/main" val="1226985227"/>
                    </a:ext>
                  </a:extLst>
                </a:gridCol>
                <a:gridCol w="245008">
                  <a:extLst>
                    <a:ext uri="{9D8B030D-6E8A-4147-A177-3AD203B41FA5}">
                      <a16:colId xmlns:a16="http://schemas.microsoft.com/office/drawing/2014/main" val="3713960912"/>
                    </a:ext>
                  </a:extLst>
                </a:gridCol>
                <a:gridCol w="245008">
                  <a:extLst>
                    <a:ext uri="{9D8B030D-6E8A-4147-A177-3AD203B41FA5}">
                      <a16:colId xmlns:a16="http://schemas.microsoft.com/office/drawing/2014/main" val="3563135222"/>
                    </a:ext>
                  </a:extLst>
                </a:gridCol>
                <a:gridCol w="245008">
                  <a:extLst>
                    <a:ext uri="{9D8B030D-6E8A-4147-A177-3AD203B41FA5}">
                      <a16:colId xmlns:a16="http://schemas.microsoft.com/office/drawing/2014/main" val="3008803332"/>
                    </a:ext>
                  </a:extLst>
                </a:gridCol>
                <a:gridCol w="245008">
                  <a:extLst>
                    <a:ext uri="{9D8B030D-6E8A-4147-A177-3AD203B41FA5}">
                      <a16:colId xmlns:a16="http://schemas.microsoft.com/office/drawing/2014/main" val="1384719653"/>
                    </a:ext>
                  </a:extLst>
                </a:gridCol>
                <a:gridCol w="245008">
                  <a:extLst>
                    <a:ext uri="{9D8B030D-6E8A-4147-A177-3AD203B41FA5}">
                      <a16:colId xmlns:a16="http://schemas.microsoft.com/office/drawing/2014/main" val="4269752481"/>
                    </a:ext>
                  </a:extLst>
                </a:gridCol>
                <a:gridCol w="245008">
                  <a:extLst>
                    <a:ext uri="{9D8B030D-6E8A-4147-A177-3AD203B41FA5}">
                      <a16:colId xmlns:a16="http://schemas.microsoft.com/office/drawing/2014/main" val="3722437346"/>
                    </a:ext>
                  </a:extLst>
                </a:gridCol>
                <a:gridCol w="245008">
                  <a:extLst>
                    <a:ext uri="{9D8B030D-6E8A-4147-A177-3AD203B41FA5}">
                      <a16:colId xmlns:a16="http://schemas.microsoft.com/office/drawing/2014/main" val="1558504377"/>
                    </a:ext>
                  </a:extLst>
                </a:gridCol>
                <a:gridCol w="245008">
                  <a:extLst>
                    <a:ext uri="{9D8B030D-6E8A-4147-A177-3AD203B41FA5}">
                      <a16:colId xmlns:a16="http://schemas.microsoft.com/office/drawing/2014/main" val="1532846615"/>
                    </a:ext>
                  </a:extLst>
                </a:gridCol>
                <a:gridCol w="245008">
                  <a:extLst>
                    <a:ext uri="{9D8B030D-6E8A-4147-A177-3AD203B41FA5}">
                      <a16:colId xmlns:a16="http://schemas.microsoft.com/office/drawing/2014/main" val="2173808552"/>
                    </a:ext>
                  </a:extLst>
                </a:gridCol>
                <a:gridCol w="245008">
                  <a:extLst>
                    <a:ext uri="{9D8B030D-6E8A-4147-A177-3AD203B41FA5}">
                      <a16:colId xmlns:a16="http://schemas.microsoft.com/office/drawing/2014/main" val="1587937335"/>
                    </a:ext>
                  </a:extLst>
                </a:gridCol>
                <a:gridCol w="245008">
                  <a:extLst>
                    <a:ext uri="{9D8B030D-6E8A-4147-A177-3AD203B41FA5}">
                      <a16:colId xmlns:a16="http://schemas.microsoft.com/office/drawing/2014/main" val="1124224881"/>
                    </a:ext>
                  </a:extLst>
                </a:gridCol>
                <a:gridCol w="245008">
                  <a:extLst>
                    <a:ext uri="{9D8B030D-6E8A-4147-A177-3AD203B41FA5}">
                      <a16:colId xmlns:a16="http://schemas.microsoft.com/office/drawing/2014/main" val="1879936419"/>
                    </a:ext>
                  </a:extLst>
                </a:gridCol>
                <a:gridCol w="287402">
                  <a:extLst>
                    <a:ext uri="{9D8B030D-6E8A-4147-A177-3AD203B41FA5}">
                      <a16:colId xmlns:a16="http://schemas.microsoft.com/office/drawing/2014/main" val="3857562807"/>
                    </a:ext>
                  </a:extLst>
                </a:gridCol>
                <a:gridCol w="287402">
                  <a:extLst>
                    <a:ext uri="{9D8B030D-6E8A-4147-A177-3AD203B41FA5}">
                      <a16:colId xmlns:a16="http://schemas.microsoft.com/office/drawing/2014/main" val="2527173664"/>
                    </a:ext>
                  </a:extLst>
                </a:gridCol>
                <a:gridCol w="287402">
                  <a:extLst>
                    <a:ext uri="{9D8B030D-6E8A-4147-A177-3AD203B41FA5}">
                      <a16:colId xmlns:a16="http://schemas.microsoft.com/office/drawing/2014/main" val="2240796902"/>
                    </a:ext>
                  </a:extLst>
                </a:gridCol>
                <a:gridCol w="287402">
                  <a:extLst>
                    <a:ext uri="{9D8B030D-6E8A-4147-A177-3AD203B41FA5}">
                      <a16:colId xmlns:a16="http://schemas.microsoft.com/office/drawing/2014/main" val="3262495759"/>
                    </a:ext>
                  </a:extLst>
                </a:gridCol>
                <a:gridCol w="287402">
                  <a:extLst>
                    <a:ext uri="{9D8B030D-6E8A-4147-A177-3AD203B41FA5}">
                      <a16:colId xmlns:a16="http://schemas.microsoft.com/office/drawing/2014/main" val="3106091415"/>
                    </a:ext>
                  </a:extLst>
                </a:gridCol>
                <a:gridCol w="245008">
                  <a:extLst>
                    <a:ext uri="{9D8B030D-6E8A-4147-A177-3AD203B41FA5}">
                      <a16:colId xmlns:a16="http://schemas.microsoft.com/office/drawing/2014/main" val="2096303344"/>
                    </a:ext>
                  </a:extLst>
                </a:gridCol>
                <a:gridCol w="245008">
                  <a:extLst>
                    <a:ext uri="{9D8B030D-6E8A-4147-A177-3AD203B41FA5}">
                      <a16:colId xmlns:a16="http://schemas.microsoft.com/office/drawing/2014/main" val="3784302581"/>
                    </a:ext>
                  </a:extLst>
                </a:gridCol>
                <a:gridCol w="245008">
                  <a:extLst>
                    <a:ext uri="{9D8B030D-6E8A-4147-A177-3AD203B41FA5}">
                      <a16:colId xmlns:a16="http://schemas.microsoft.com/office/drawing/2014/main" val="1681215889"/>
                    </a:ext>
                  </a:extLst>
                </a:gridCol>
                <a:gridCol w="245008">
                  <a:extLst>
                    <a:ext uri="{9D8B030D-6E8A-4147-A177-3AD203B41FA5}">
                      <a16:colId xmlns:a16="http://schemas.microsoft.com/office/drawing/2014/main" val="3262464713"/>
                    </a:ext>
                  </a:extLst>
                </a:gridCol>
                <a:gridCol w="245008">
                  <a:extLst>
                    <a:ext uri="{9D8B030D-6E8A-4147-A177-3AD203B41FA5}">
                      <a16:colId xmlns:a16="http://schemas.microsoft.com/office/drawing/2014/main" val="1500912026"/>
                    </a:ext>
                  </a:extLst>
                </a:gridCol>
                <a:gridCol w="245008">
                  <a:extLst>
                    <a:ext uri="{9D8B030D-6E8A-4147-A177-3AD203B41FA5}">
                      <a16:colId xmlns:a16="http://schemas.microsoft.com/office/drawing/2014/main" val="3012408392"/>
                    </a:ext>
                  </a:extLst>
                </a:gridCol>
                <a:gridCol w="245008">
                  <a:extLst>
                    <a:ext uri="{9D8B030D-6E8A-4147-A177-3AD203B41FA5}">
                      <a16:colId xmlns:a16="http://schemas.microsoft.com/office/drawing/2014/main" val="4079235236"/>
                    </a:ext>
                  </a:extLst>
                </a:gridCol>
                <a:gridCol w="245008">
                  <a:extLst>
                    <a:ext uri="{9D8B030D-6E8A-4147-A177-3AD203B41FA5}">
                      <a16:colId xmlns:a16="http://schemas.microsoft.com/office/drawing/2014/main" val="1687094121"/>
                    </a:ext>
                  </a:extLst>
                </a:gridCol>
                <a:gridCol w="263409">
                  <a:extLst>
                    <a:ext uri="{9D8B030D-6E8A-4147-A177-3AD203B41FA5}">
                      <a16:colId xmlns:a16="http://schemas.microsoft.com/office/drawing/2014/main" val="1815220949"/>
                    </a:ext>
                  </a:extLst>
                </a:gridCol>
              </a:tblGrid>
              <a:tr h="310556">
                <a:tc>
                  <a:txBody>
                    <a:bodyPr/>
                    <a:lstStyle/>
                    <a:p>
                      <a:pPr marL="0" marR="0">
                        <a:lnSpc>
                          <a:spcPct val="107000"/>
                        </a:lnSpc>
                        <a:spcBef>
                          <a:spcPts val="0"/>
                        </a:spcBef>
                        <a:spcAft>
                          <a:spcPts val="800"/>
                        </a:spcAft>
                      </a:pPr>
                      <a:r>
                        <a:rPr lang="en-US" sz="900">
                          <a:effectLst/>
                        </a:rPr>
                        <a:t>Tag ID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12</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13</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16</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19</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22</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23</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26</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29</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32</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dirty="0">
                          <a:effectLst/>
                        </a:rPr>
                        <a:t>33</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36</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39</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extLst>
                  <a:ext uri="{0D108BD9-81ED-4DB2-BD59-A6C34878D82A}">
                    <a16:rowId xmlns:a16="http://schemas.microsoft.com/office/drawing/2014/main" val="2670912097"/>
                  </a:ext>
                </a:extLst>
              </a:tr>
              <a:tr h="363212">
                <a:tc>
                  <a:txBody>
                    <a:bodyPr/>
                    <a:lstStyle/>
                    <a:p>
                      <a:pPr marL="0" marR="0">
                        <a:lnSpc>
                          <a:spcPct val="107000"/>
                        </a:lnSpc>
                        <a:spcBef>
                          <a:spcPts val="0"/>
                        </a:spcBef>
                        <a:spcAft>
                          <a:spcPts val="800"/>
                        </a:spcAft>
                      </a:pPr>
                      <a:r>
                        <a:rPr lang="en-US" sz="900">
                          <a:effectLst/>
                        </a:rPr>
                        <a:t># of forays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19</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6</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dirty="0">
                          <a:effectLst/>
                        </a:rPr>
                        <a:t>12</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6</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6</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2</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9</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a:effectLst/>
                        </a:rPr>
                        <a:t>3</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dirty="0">
                          <a:effectLst/>
                        </a:rPr>
                        <a:t>7</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tc>
                  <a:txBody>
                    <a:bodyPr/>
                    <a:lstStyle/>
                    <a:p>
                      <a:pPr marL="0" marR="0">
                        <a:lnSpc>
                          <a:spcPct val="107000"/>
                        </a:lnSpc>
                        <a:spcBef>
                          <a:spcPts val="0"/>
                        </a:spcBef>
                        <a:spcAft>
                          <a:spcPts val="800"/>
                        </a:spcAft>
                      </a:pPr>
                      <a:r>
                        <a:rPr lang="en-US" sz="900" dirty="0">
                          <a:effectLst/>
                        </a:rPr>
                        <a:t>8</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6657" marR="56657" marT="0" marB="0"/>
                </a:tc>
                <a:extLst>
                  <a:ext uri="{0D108BD9-81ED-4DB2-BD59-A6C34878D82A}">
                    <a16:rowId xmlns:a16="http://schemas.microsoft.com/office/drawing/2014/main" val="1576110555"/>
                  </a:ext>
                </a:extLst>
              </a:tr>
            </a:tbl>
          </a:graphicData>
        </a:graphic>
      </p:graphicFrame>
    </p:spTree>
    <p:extLst>
      <p:ext uri="{BB962C8B-B14F-4D97-AF65-F5344CB8AC3E}">
        <p14:creationId xmlns:p14="http://schemas.microsoft.com/office/powerpoint/2010/main" val="12147323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13984" y="472892"/>
            <a:ext cx="7422052" cy="5935756"/>
          </a:xfrm>
          <a:prstGeom prst="rect">
            <a:avLst/>
          </a:prstGeom>
        </p:spPr>
      </p:pic>
      <p:sp>
        <p:nvSpPr>
          <p:cNvPr id="3" name="TextBox 2"/>
          <p:cNvSpPr txBox="1"/>
          <p:nvPr/>
        </p:nvSpPr>
        <p:spPr>
          <a:xfrm>
            <a:off x="8349915" y="4692316"/>
            <a:ext cx="743409" cy="276999"/>
          </a:xfrm>
          <a:prstGeom prst="rect">
            <a:avLst/>
          </a:prstGeom>
          <a:solidFill>
            <a:schemeClr val="bg1"/>
          </a:solidFill>
        </p:spPr>
        <p:txBody>
          <a:bodyPr wrap="none" rtlCol="0">
            <a:spAutoFit/>
          </a:bodyPr>
          <a:lstStyle/>
          <a:p>
            <a:r>
              <a:rPr lang="en-US" sz="1200" dirty="0" smtClean="0"/>
              <a:t>Final exit</a:t>
            </a:r>
            <a:endParaRPr lang="en-US" sz="1200" dirty="0"/>
          </a:p>
        </p:txBody>
      </p:sp>
    </p:spTree>
    <p:extLst>
      <p:ext uri="{BB962C8B-B14F-4D97-AF65-F5344CB8AC3E}">
        <p14:creationId xmlns:p14="http://schemas.microsoft.com/office/powerpoint/2010/main" val="850165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512</Words>
  <Application>Microsoft Office PowerPoint</Application>
  <PresentationFormat>Widescreen</PresentationFormat>
  <Paragraphs>86</Paragraphs>
  <Slides>29</Slides>
  <Notes>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Office Theme</vt:lpstr>
      <vt:lpstr>Coldwater fish navigate fine scale diel variation in dissolved oxygen and temperature in a floodplain thermal refuge habitat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Oregon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Client Services</dc:creator>
  <cp:lastModifiedBy>Barrett, Hannah</cp:lastModifiedBy>
  <cp:revision>25</cp:revision>
  <dcterms:created xsi:type="dcterms:W3CDTF">2023-01-19T20:07:56Z</dcterms:created>
  <dcterms:modified xsi:type="dcterms:W3CDTF">2023-02-17T02:59:33Z</dcterms:modified>
</cp:coreProperties>
</file>