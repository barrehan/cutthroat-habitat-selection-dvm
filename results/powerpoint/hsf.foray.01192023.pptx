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6" r:id="rId2"/>
    <p:sldId id="266" r:id="rId3"/>
    <p:sldId id="263" r:id="rId4"/>
    <p:sldId id="264" r:id="rId5"/>
    <p:sldId id="267" r:id="rId6"/>
    <p:sldId id="268" r:id="rId7"/>
    <p:sldId id="269" r:id="rId8"/>
    <p:sldId id="279" r:id="rId9"/>
    <p:sldId id="271" r:id="rId10"/>
    <p:sldId id="270" r:id="rId11"/>
    <p:sldId id="262" r:id="rId12"/>
    <p:sldId id="259" r:id="rId13"/>
    <p:sldId id="272" r:id="rId14"/>
    <p:sldId id="273" r:id="rId15"/>
    <p:sldId id="257" r:id="rId16"/>
    <p:sldId id="277" r:id="rId17"/>
    <p:sldId id="278" r:id="rId18"/>
    <p:sldId id="275" r:id="rId19"/>
    <p:sldId id="274" r:id="rId20"/>
    <p:sldId id="258" r:id="rId21"/>
    <p:sldId id="260" r:id="rId22"/>
    <p:sldId id="261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D05B2-C4AA-44A4-AC74-DC39DCA6EE81}" type="datetimeFigureOut">
              <a:rPr lang="en-US" smtClean="0"/>
              <a:t>1/19/2023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1BCE9-FFAA-4FDA-9B6F-4EE472C6B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340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D05B2-C4AA-44A4-AC74-DC39DCA6EE81}" type="datetimeFigureOut">
              <a:rPr lang="en-US" smtClean="0"/>
              <a:t>1/19/2023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1BCE9-FFAA-4FDA-9B6F-4EE472C6B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423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D05B2-C4AA-44A4-AC74-DC39DCA6EE81}" type="datetimeFigureOut">
              <a:rPr lang="en-US" smtClean="0"/>
              <a:t>1/19/2023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1BCE9-FFAA-4FDA-9B6F-4EE472C6B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7477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D05B2-C4AA-44A4-AC74-DC39DCA6EE81}" type="datetimeFigureOut">
              <a:rPr lang="en-US" smtClean="0"/>
              <a:t>1/19/2023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1BCE9-FFAA-4FDA-9B6F-4EE472C6B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827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D05B2-C4AA-44A4-AC74-DC39DCA6EE81}" type="datetimeFigureOut">
              <a:rPr lang="en-US" smtClean="0"/>
              <a:t>1/19/2023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1BCE9-FFAA-4FDA-9B6F-4EE472C6B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500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D05B2-C4AA-44A4-AC74-DC39DCA6EE81}" type="datetimeFigureOut">
              <a:rPr lang="en-US" smtClean="0"/>
              <a:t>1/19/2023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1BCE9-FFAA-4FDA-9B6F-4EE472C6B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8915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D05B2-C4AA-44A4-AC74-DC39DCA6EE81}" type="datetimeFigureOut">
              <a:rPr lang="en-US" smtClean="0"/>
              <a:t>1/19/2023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1BCE9-FFAA-4FDA-9B6F-4EE472C6B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839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D05B2-C4AA-44A4-AC74-DC39DCA6EE81}" type="datetimeFigureOut">
              <a:rPr lang="en-US" smtClean="0"/>
              <a:t>1/19/2023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1BCE9-FFAA-4FDA-9B6F-4EE472C6B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187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D05B2-C4AA-44A4-AC74-DC39DCA6EE81}" type="datetimeFigureOut">
              <a:rPr lang="en-US" smtClean="0"/>
              <a:t>1/19/2023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1BCE9-FFAA-4FDA-9B6F-4EE472C6B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7353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D05B2-C4AA-44A4-AC74-DC39DCA6EE81}" type="datetimeFigureOut">
              <a:rPr lang="en-US" smtClean="0"/>
              <a:t>1/19/2023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1BCE9-FFAA-4FDA-9B6F-4EE472C6B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2531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D05B2-C4AA-44A4-AC74-DC39DCA6EE81}" type="datetimeFigureOut">
              <a:rPr lang="en-US" smtClean="0"/>
              <a:t>1/19/2023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1BCE9-FFAA-4FDA-9B6F-4EE472C6B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42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BD05B2-C4AA-44A4-AC74-DC39DCA6EE81}" type="datetimeFigureOut">
              <a:rPr lang="en-US" smtClean="0"/>
              <a:t>1/19/2023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11BCE9-FFAA-4FDA-9B6F-4EE472C6B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81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11967" y="1082844"/>
            <a:ext cx="9144000" cy="4496552"/>
          </a:xfrm>
        </p:spPr>
        <p:txBody>
          <a:bodyPr>
            <a:normAutofit/>
          </a:bodyPr>
          <a:lstStyle/>
          <a:p>
            <a:r>
              <a:rPr lang="en-US" dirty="0" smtClean="0"/>
              <a:t>Coldwater fish navigate </a:t>
            </a:r>
            <a:r>
              <a:rPr lang="en-US" dirty="0" smtClean="0"/>
              <a:t>fine scale </a:t>
            </a:r>
            <a:r>
              <a:rPr lang="en-US" dirty="0" smtClean="0"/>
              <a:t>diel variation </a:t>
            </a:r>
            <a:r>
              <a:rPr lang="en-US" dirty="0" smtClean="0"/>
              <a:t>in dissolved oxygen and </a:t>
            </a:r>
            <a:r>
              <a:rPr lang="en-US" dirty="0" smtClean="0"/>
              <a:t>temperature in a floodplain thermal refuge habitat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8734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120" y="173412"/>
            <a:ext cx="11511959" cy="657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2882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4581" y="284078"/>
            <a:ext cx="10616213" cy="6369728"/>
          </a:xfrm>
          <a:prstGeom prst="rect">
            <a:avLst/>
          </a:prstGeom>
        </p:spPr>
      </p:pic>
      <p:sp>
        <p:nvSpPr>
          <p:cNvPr id="6" name="Left Brace 5"/>
          <p:cNvSpPr/>
          <p:nvPr/>
        </p:nvSpPr>
        <p:spPr>
          <a:xfrm>
            <a:off x="1261367" y="932148"/>
            <a:ext cx="292964" cy="2911876"/>
          </a:xfrm>
          <a:prstGeom prst="leftBrac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/>
          <p:cNvSpPr/>
          <p:nvPr/>
        </p:nvSpPr>
        <p:spPr>
          <a:xfrm>
            <a:off x="1243615" y="4076324"/>
            <a:ext cx="292964" cy="1924975"/>
          </a:xfrm>
          <a:prstGeom prst="leftBrac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94965" y="2249586"/>
            <a:ext cx="11597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℃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8108" y="4807978"/>
            <a:ext cx="11419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Dissolved oxygen mg/L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743740" y="382773"/>
            <a:ext cx="29613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Norwood </a:t>
            </a:r>
            <a:r>
              <a:rPr lang="en-US" dirty="0" err="1" smtClean="0"/>
              <a:t>netpen</a:t>
            </a:r>
            <a:r>
              <a:rPr lang="en-US" dirty="0" smtClean="0"/>
              <a:t> logger array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1391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503" y="878890"/>
            <a:ext cx="10236954" cy="5395728"/>
          </a:xfrm>
        </p:spPr>
      </p:pic>
      <p:sp>
        <p:nvSpPr>
          <p:cNvPr id="6" name="Left Brace 5"/>
          <p:cNvSpPr/>
          <p:nvPr/>
        </p:nvSpPr>
        <p:spPr>
          <a:xfrm>
            <a:off x="1318674" y="1707463"/>
            <a:ext cx="332667" cy="2334827"/>
          </a:xfrm>
          <a:prstGeom prst="leftBrac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/>
          <p:cNvSpPr/>
          <p:nvPr/>
        </p:nvSpPr>
        <p:spPr>
          <a:xfrm>
            <a:off x="1369967" y="4352047"/>
            <a:ext cx="230079" cy="1376035"/>
          </a:xfrm>
          <a:prstGeom prst="leftBrac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89609" y="2718620"/>
            <a:ext cx="1311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℃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6758" y="4809233"/>
            <a:ext cx="11419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Dissolved oxygen mg/L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89647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1328" y="808074"/>
            <a:ext cx="7723667" cy="5149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5229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402" y="181233"/>
            <a:ext cx="9641359" cy="6427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513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49" y="1573427"/>
            <a:ext cx="5448300" cy="36322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39" y="1596767"/>
            <a:ext cx="5413291" cy="36088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09949" y="502508"/>
            <a:ext cx="4898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Individual and intra-individual behavioral variation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309949" y="871840"/>
            <a:ext cx="94170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Fine scale vertical migration persists, extended time in </a:t>
            </a:r>
            <a:r>
              <a:rPr lang="en-US" dirty="0" err="1" smtClean="0"/>
              <a:t>hypolimnion</a:t>
            </a:r>
            <a:r>
              <a:rPr lang="en-US" dirty="0" smtClean="0"/>
              <a:t> and reduced vertical amplitude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3380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815546"/>
            <a:ext cx="23382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Step selection function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68379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/>
          <a:srcRect t="1584" r="3789"/>
          <a:stretch/>
        </p:blipFill>
        <p:spPr>
          <a:xfrm>
            <a:off x="571500" y="588475"/>
            <a:ext cx="10790599" cy="5678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104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/>
          <a:srcRect t="2333" r="1199" b="712"/>
          <a:stretch/>
        </p:blipFill>
        <p:spPr>
          <a:xfrm>
            <a:off x="684799" y="618309"/>
            <a:ext cx="10854058" cy="56988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725989" y="618309"/>
            <a:ext cx="2934788" cy="22642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290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493" y="98065"/>
            <a:ext cx="5552861" cy="3086084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494" y="3606808"/>
            <a:ext cx="5552860" cy="3086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59699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9914" y="3537423"/>
            <a:ext cx="5752723" cy="319716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493" y="225615"/>
            <a:ext cx="5975145" cy="3320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40605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/>
          <a:srcRect t="890"/>
          <a:stretch/>
        </p:blipFill>
        <p:spPr>
          <a:xfrm>
            <a:off x="833438" y="737419"/>
            <a:ext cx="9658100" cy="5054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5654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/>
          <a:srcRect r="988" b="871"/>
          <a:stretch/>
        </p:blipFill>
        <p:spPr>
          <a:xfrm>
            <a:off x="800100" y="561975"/>
            <a:ext cx="10314410" cy="541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178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094" y="3395090"/>
            <a:ext cx="6119727" cy="3401127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094" y="32654"/>
            <a:ext cx="6119727" cy="3401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4439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411" y="1159921"/>
            <a:ext cx="7407368" cy="4939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5845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87655" y="513590"/>
            <a:ext cx="354015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/>
              <a:t>Detection </a:t>
            </a:r>
            <a:r>
              <a:rPr lang="en-US" sz="2000" dirty="0" smtClean="0"/>
              <a:t>efficiency 98%</a:t>
            </a:r>
          </a:p>
          <a:p>
            <a:r>
              <a:rPr lang="en-US" sz="1600" dirty="0" smtClean="0"/>
              <a:t>Calculated as #</a:t>
            </a:r>
            <a:r>
              <a:rPr lang="en-US" sz="1600" dirty="0" err="1" smtClean="0"/>
              <a:t>good_detections</a:t>
            </a:r>
            <a:r>
              <a:rPr lang="en-US" sz="1600" dirty="0" smtClean="0"/>
              <a:t>/(#</a:t>
            </a:r>
            <a:r>
              <a:rPr lang="en-US" sz="1600" dirty="0" err="1" smtClean="0"/>
              <a:t>good_detections</a:t>
            </a:r>
            <a:r>
              <a:rPr lang="en-US" sz="1600" dirty="0" smtClean="0"/>
              <a:t> + #</a:t>
            </a:r>
            <a:r>
              <a:rPr lang="en-US" sz="1600" dirty="0" err="1" smtClean="0"/>
              <a:t>missed_detections</a:t>
            </a:r>
            <a:r>
              <a:rPr lang="en-US" sz="1600" dirty="0" smtClean="0"/>
              <a:t>)</a:t>
            </a:r>
          </a:p>
          <a:p>
            <a:endParaRPr lang="en-US" sz="1600" dirty="0" smtClean="0"/>
          </a:p>
          <a:p>
            <a:r>
              <a:rPr lang="en-US" sz="1600" dirty="0" smtClean="0"/>
              <a:t>Where good detections are those where receiver was not skipped between reads (e.g. fish read at receiver 1 and then again at receiver 1 or 2 is good, whereas fish read at receiver 1 and next at receiver 3 is a miss)</a:t>
            </a:r>
            <a:endParaRPr lang="en-US" sz="1600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411" y="1159921"/>
            <a:ext cx="7407368" cy="4939639"/>
          </a:xfrm>
          <a:prstGeom prst="rect">
            <a:avLst/>
          </a:prstGeom>
        </p:spPr>
      </p:pic>
      <p:cxnSp>
        <p:nvCxnSpPr>
          <p:cNvPr id="5" name="Straight Connector 4"/>
          <p:cNvCxnSpPr/>
          <p:nvPr/>
        </p:nvCxnSpPr>
        <p:spPr>
          <a:xfrm>
            <a:off x="3537283" y="2454442"/>
            <a:ext cx="637674" cy="2646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flipV="1">
            <a:off x="3886200" y="2908147"/>
            <a:ext cx="312821" cy="5449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3994482" y="3579941"/>
            <a:ext cx="312821" cy="5449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>
            <a:off x="4013200" y="4311650"/>
            <a:ext cx="378326" cy="1436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>
            <a:off x="4132634" y="4680202"/>
            <a:ext cx="282745" cy="985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H="1" flipV="1">
            <a:off x="4528022" y="4978841"/>
            <a:ext cx="75783" cy="24516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99770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09" y="448677"/>
            <a:ext cx="11197020" cy="5879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1310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/>
          <a:srcRect t="1752" b="511"/>
          <a:stretch/>
        </p:blipFill>
        <p:spPr>
          <a:xfrm>
            <a:off x="871789" y="580912"/>
            <a:ext cx="10630401" cy="5561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0651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493" y="3433238"/>
            <a:ext cx="5989947" cy="3329001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493" y="104238"/>
            <a:ext cx="5989945" cy="33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5355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4667" y="590522"/>
            <a:ext cx="7231887" cy="4822393"/>
          </a:xfrm>
          <a:prstGeom prst="rect">
            <a:avLst/>
          </a:prstGeom>
        </p:spPr>
      </p:pic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0015647"/>
              </p:ext>
            </p:extLst>
          </p:nvPr>
        </p:nvGraphicFramePr>
        <p:xfrm>
          <a:off x="1674492" y="5509168"/>
          <a:ext cx="7712236" cy="673768"/>
        </p:xfrm>
        <a:graphic>
          <a:graphicData uri="http://schemas.openxmlformats.org/drawingml/2006/table">
            <a:tbl>
              <a:tblPr firstRow="1" firstCol="1" bandRow="1">
                <a:tableStyleId>{EB344D84-9AFB-497E-A393-DC336BA19D2E}</a:tableStyleId>
              </a:tblPr>
              <a:tblGrid>
                <a:gridCol w="621641">
                  <a:extLst>
                    <a:ext uri="{9D8B030D-6E8A-4147-A177-3AD203B41FA5}">
                      <a16:colId xmlns:a16="http://schemas.microsoft.com/office/drawing/2014/main" val="3229679711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4142807363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1226985227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3713960912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3563135222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3008803332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1384719653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4269752481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3722437346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1558504377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1532846615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2173808552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1587937335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1124224881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1879936419"/>
                    </a:ext>
                  </a:extLst>
                </a:gridCol>
                <a:gridCol w="287402">
                  <a:extLst>
                    <a:ext uri="{9D8B030D-6E8A-4147-A177-3AD203B41FA5}">
                      <a16:colId xmlns:a16="http://schemas.microsoft.com/office/drawing/2014/main" val="3857562807"/>
                    </a:ext>
                  </a:extLst>
                </a:gridCol>
                <a:gridCol w="287402">
                  <a:extLst>
                    <a:ext uri="{9D8B030D-6E8A-4147-A177-3AD203B41FA5}">
                      <a16:colId xmlns:a16="http://schemas.microsoft.com/office/drawing/2014/main" val="2527173664"/>
                    </a:ext>
                  </a:extLst>
                </a:gridCol>
                <a:gridCol w="287402">
                  <a:extLst>
                    <a:ext uri="{9D8B030D-6E8A-4147-A177-3AD203B41FA5}">
                      <a16:colId xmlns:a16="http://schemas.microsoft.com/office/drawing/2014/main" val="2240796902"/>
                    </a:ext>
                  </a:extLst>
                </a:gridCol>
                <a:gridCol w="287402">
                  <a:extLst>
                    <a:ext uri="{9D8B030D-6E8A-4147-A177-3AD203B41FA5}">
                      <a16:colId xmlns:a16="http://schemas.microsoft.com/office/drawing/2014/main" val="3262495759"/>
                    </a:ext>
                  </a:extLst>
                </a:gridCol>
                <a:gridCol w="287402">
                  <a:extLst>
                    <a:ext uri="{9D8B030D-6E8A-4147-A177-3AD203B41FA5}">
                      <a16:colId xmlns:a16="http://schemas.microsoft.com/office/drawing/2014/main" val="3106091415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2096303344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3784302581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1681215889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3262464713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1500912026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3012408392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4079235236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1687094121"/>
                    </a:ext>
                  </a:extLst>
                </a:gridCol>
                <a:gridCol w="263409">
                  <a:extLst>
                    <a:ext uri="{9D8B030D-6E8A-4147-A177-3AD203B41FA5}">
                      <a16:colId xmlns:a16="http://schemas.microsoft.com/office/drawing/2014/main" val="1815220949"/>
                    </a:ext>
                  </a:extLst>
                </a:gridCol>
              </a:tblGrid>
              <a:tr h="31055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Tag ID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11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12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13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14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15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16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17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18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19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20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21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22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23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24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25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26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27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29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30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31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32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 dirty="0">
                          <a:effectLst/>
                        </a:rPr>
                        <a:t>33</a:t>
                      </a:r>
                      <a:endParaRPr lang="en-US" sz="9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34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35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36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37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38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39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extLst>
                  <a:ext uri="{0D108BD9-81ED-4DB2-BD59-A6C34878D82A}">
                    <a16:rowId xmlns:a16="http://schemas.microsoft.com/office/drawing/2014/main" val="2670912097"/>
                  </a:ext>
                </a:extLst>
              </a:tr>
              <a:tr h="363212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# of forays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19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10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 dirty="0">
                          <a:effectLst/>
                        </a:rPr>
                        <a:t>12</a:t>
                      </a:r>
                      <a:endParaRPr lang="en-US" sz="9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11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14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 dirty="0">
                          <a:effectLst/>
                        </a:rPr>
                        <a:t>7</a:t>
                      </a:r>
                      <a:endParaRPr lang="en-US" sz="9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 dirty="0">
                          <a:effectLst/>
                        </a:rPr>
                        <a:t>8</a:t>
                      </a:r>
                      <a:endParaRPr lang="en-US" sz="9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extLst>
                  <a:ext uri="{0D108BD9-81ED-4DB2-BD59-A6C34878D82A}">
                    <a16:rowId xmlns:a16="http://schemas.microsoft.com/office/drawing/2014/main" val="15761105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47323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3984" y="472892"/>
            <a:ext cx="7422052" cy="59357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49915" y="4692316"/>
            <a:ext cx="743409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 smtClean="0"/>
              <a:t>Final exit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8501655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177</Words>
  <Application>Microsoft Office PowerPoint</Application>
  <PresentationFormat>Widescreen</PresentationFormat>
  <Paragraphs>72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Calibri Light</vt:lpstr>
      <vt:lpstr>Times New Roman</vt:lpstr>
      <vt:lpstr>Office Theme</vt:lpstr>
      <vt:lpstr>Coldwater fish navigate fine scale diel variation in dissolved oxygen and temperature in a floodplain thermal refuge habitat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Oregon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Client Services</dc:creator>
  <cp:lastModifiedBy>Client Services</cp:lastModifiedBy>
  <cp:revision>14</cp:revision>
  <dcterms:created xsi:type="dcterms:W3CDTF">2023-01-19T20:07:56Z</dcterms:created>
  <dcterms:modified xsi:type="dcterms:W3CDTF">2023-01-19T22:46:50Z</dcterms:modified>
</cp:coreProperties>
</file>