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8" r:id="rId2"/>
    <p:sldId id="261" r:id="rId3"/>
    <p:sldId id="262" r:id="rId4"/>
    <p:sldId id="269" r:id="rId5"/>
    <p:sldId id="257" r:id="rId6"/>
    <p:sldId id="268" r:id="rId7"/>
    <p:sldId id="270" r:id="rId8"/>
    <p:sldId id="263" r:id="rId9"/>
    <p:sldId id="266" r:id="rId10"/>
    <p:sldId id="256"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115" autoAdjust="0"/>
    <p:restoredTop sz="68894" autoAdjust="0"/>
  </p:normalViewPr>
  <p:slideViewPr>
    <p:cSldViewPr snapToGrid="0">
      <p:cViewPr varScale="1">
        <p:scale>
          <a:sx n="51" d="100"/>
          <a:sy n="51" d="100"/>
        </p:scale>
        <p:origin x="236" y="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35638F-2F56-4262-91D2-6BB4DE6DE5F6}" type="datetimeFigureOut">
              <a:rPr lang="en-US" smtClean="0"/>
              <a:t>7/24/2025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50FB83-D258-4CC0-8421-363F00305204}" type="slidenum">
              <a:rPr lang="en-US" smtClean="0"/>
              <a:t>‹#›</a:t>
            </a:fld>
            <a:endParaRPr lang="en-US"/>
          </a:p>
        </p:txBody>
      </p:sp>
    </p:spTree>
    <p:extLst>
      <p:ext uri="{BB962C8B-B14F-4D97-AF65-F5344CB8AC3E}">
        <p14:creationId xmlns:p14="http://schemas.microsoft.com/office/powerpoint/2010/main" val="4108963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Figure 1. </a:t>
            </a:r>
            <a:r>
              <a:rPr lang="en-US" sz="1200" i="0" kern="1200" dirty="0">
                <a:solidFill>
                  <a:schemeClr val="tx1"/>
                </a:solidFill>
                <a:effectLst/>
                <a:latin typeface="+mn-lt"/>
                <a:ea typeface="+mn-ea"/>
                <a:cs typeface="+mn-cs"/>
              </a:rPr>
              <a:t>Diel contrasts in temperature and dissolved oxygen profiles for a floodplain alcove that provides thermal refuge for cold-water fishes of the Willamette River. Profiles were recorded at dawn (6:00, near DO-minima), and late afternoon (15:00, near the DO-maxima). Data are shown for Blue Ruin alcove.</a:t>
            </a:r>
            <a:endParaRPr lang="en-US" sz="1200" i="1"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550FB83-D258-4CC0-8421-363F00305204}" type="slidenum">
              <a:rPr lang="en-US" smtClean="0"/>
              <a:t>1</a:t>
            </a:fld>
            <a:endParaRPr lang="en-US"/>
          </a:p>
        </p:txBody>
      </p:sp>
    </p:spTree>
    <p:extLst>
      <p:ext uri="{BB962C8B-B14F-4D97-AF65-F5344CB8AC3E}">
        <p14:creationId xmlns:p14="http://schemas.microsoft.com/office/powerpoint/2010/main" val="643047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dirty="0">
                <a:solidFill>
                  <a:schemeClr val="tx1"/>
                </a:solidFill>
                <a:effectLst/>
                <a:latin typeface="+mn-lt"/>
                <a:ea typeface="+mn-ea"/>
                <a:cs typeface="+mn-cs"/>
              </a:rPr>
              <a:t>Figure 2.</a:t>
            </a:r>
            <a:r>
              <a:rPr lang="en-US" sz="1200" i="0" kern="1200" dirty="0">
                <a:solidFill>
                  <a:schemeClr val="tx1"/>
                </a:solidFill>
                <a:effectLst/>
                <a:latin typeface="+mn-lt"/>
                <a:ea typeface="+mn-ea"/>
                <a:cs typeface="+mn-cs"/>
              </a:rPr>
              <a:t> The diel cycle of water temperature and dissolved oxygen at three depths of a stratified floodplain alcove. Dashed lines represent temperature (°C), and solid lines represent dissolved oxygen (mg</a:t>
            </a:r>
            <a:r>
              <a:rPr lang="en-US" sz="1200" i="1" kern="1200" dirty="0">
                <a:solidFill>
                  <a:schemeClr val="tx1"/>
                </a:solidFill>
                <a:effectLst/>
                <a:latin typeface="+mn-lt"/>
                <a:ea typeface="+mn-ea"/>
                <a:cs typeface="+mn-cs"/>
              </a:rPr>
              <a:t> • </a:t>
            </a:r>
            <a:r>
              <a:rPr lang="en-US" sz="1200" i="0" kern="1200" dirty="0">
                <a:solidFill>
                  <a:schemeClr val="tx1"/>
                </a:solidFill>
                <a:effectLst/>
                <a:latin typeface="+mn-lt"/>
                <a:ea typeface="+mn-ea"/>
                <a:cs typeface="+mn-cs"/>
              </a:rPr>
              <a:t>L</a:t>
            </a:r>
            <a:r>
              <a:rPr lang="en-US" sz="1200" i="0" kern="1200" baseline="30000" dirty="0">
                <a:solidFill>
                  <a:schemeClr val="tx1"/>
                </a:solidFill>
                <a:effectLst/>
                <a:latin typeface="+mn-lt"/>
                <a:ea typeface="+mn-ea"/>
                <a:cs typeface="+mn-cs"/>
              </a:rPr>
              <a:t>-1</a:t>
            </a:r>
            <a:r>
              <a:rPr lang="en-US" sz="1200" i="0" kern="1200" dirty="0">
                <a:solidFill>
                  <a:schemeClr val="tx1"/>
                </a:solidFill>
                <a:effectLst/>
                <a:latin typeface="+mn-lt"/>
                <a:ea typeface="+mn-ea"/>
                <a:cs typeface="+mn-cs"/>
              </a:rPr>
              <a:t>). Shaded bars highlight the asynchrony between periods of peak hypoxia (dark pink) and peak thermal stress (light pink). Data shown here are for July 27</a:t>
            </a:r>
            <a:r>
              <a:rPr lang="en-US" sz="1200" i="0" kern="1200" baseline="30000" dirty="0">
                <a:solidFill>
                  <a:schemeClr val="tx1"/>
                </a:solidFill>
                <a:effectLst/>
                <a:latin typeface="+mn-lt"/>
                <a:ea typeface="+mn-ea"/>
                <a:cs typeface="+mn-cs"/>
              </a:rPr>
              <a:t>th</a:t>
            </a:r>
            <a:r>
              <a:rPr lang="en-US" sz="1200" i="0" kern="1200" dirty="0">
                <a:solidFill>
                  <a:schemeClr val="tx1"/>
                </a:solidFill>
                <a:effectLst/>
                <a:latin typeface="+mn-lt"/>
                <a:ea typeface="+mn-ea"/>
                <a:cs typeface="+mn-cs"/>
              </a:rPr>
              <a:t> 2021 in Norwood alcove and have a 5-minute temporal resolution. </a:t>
            </a:r>
          </a:p>
          <a:p>
            <a:endParaRPr lang="en-US" dirty="0"/>
          </a:p>
        </p:txBody>
      </p:sp>
      <p:sp>
        <p:nvSpPr>
          <p:cNvPr id="4" name="Slide Number Placeholder 3"/>
          <p:cNvSpPr>
            <a:spLocks noGrp="1"/>
          </p:cNvSpPr>
          <p:nvPr>
            <p:ph type="sldNum" sz="quarter" idx="5"/>
          </p:nvPr>
        </p:nvSpPr>
        <p:spPr/>
        <p:txBody>
          <a:bodyPr/>
          <a:lstStyle/>
          <a:p>
            <a:fld id="{7550FB83-D258-4CC0-8421-363F00305204}" type="slidenum">
              <a:rPr lang="en-US" smtClean="0"/>
              <a:t>2</a:t>
            </a:fld>
            <a:endParaRPr lang="en-US"/>
          </a:p>
        </p:txBody>
      </p:sp>
    </p:spTree>
    <p:extLst>
      <p:ext uri="{BB962C8B-B14F-4D97-AF65-F5344CB8AC3E}">
        <p14:creationId xmlns:p14="http://schemas.microsoft.com/office/powerpoint/2010/main" val="22198851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Figure 3. </a:t>
            </a:r>
            <a:r>
              <a:rPr lang="en-US" sz="1200" kern="1200" dirty="0">
                <a:solidFill>
                  <a:schemeClr val="tx1"/>
                </a:solidFill>
                <a:effectLst/>
                <a:latin typeface="+mn-lt"/>
                <a:ea typeface="+mn-ea"/>
                <a:cs typeface="+mn-cs"/>
              </a:rPr>
              <a:t>Results from linear mixed models evaluating the relationship between temperature and DO comparing the 2-hour window that approximates the DO-minima (dark green) to the 2-hour window that approximates the DO-maxima (light green) in </a:t>
            </a:r>
            <a:r>
              <a:rPr lang="en-US" sz="1200" b="1" kern="1200" dirty="0">
                <a:solidFill>
                  <a:schemeClr val="tx1"/>
                </a:solidFill>
                <a:effectLst/>
                <a:latin typeface="+mn-lt"/>
                <a:ea typeface="+mn-ea"/>
                <a:cs typeface="+mn-cs"/>
              </a:rPr>
              <a:t>a.</a:t>
            </a:r>
            <a:r>
              <a:rPr lang="en-US" sz="1200" kern="1200" dirty="0">
                <a:solidFill>
                  <a:schemeClr val="tx1"/>
                </a:solidFill>
                <a:effectLst/>
                <a:latin typeface="+mn-lt"/>
                <a:ea typeface="+mn-ea"/>
                <a:cs typeface="+mn-cs"/>
              </a:rPr>
              <a:t> Blue Ruin cold-water alcove, </a:t>
            </a:r>
            <a:r>
              <a:rPr lang="en-US" sz="1200" b="1" kern="1200" dirty="0">
                <a:solidFill>
                  <a:schemeClr val="tx1"/>
                </a:solidFill>
                <a:effectLst/>
                <a:latin typeface="+mn-lt"/>
                <a:ea typeface="+mn-ea"/>
                <a:cs typeface="+mn-cs"/>
              </a:rPr>
              <a:t>b.</a:t>
            </a:r>
            <a:r>
              <a:rPr lang="en-US" sz="1200" kern="1200" dirty="0">
                <a:solidFill>
                  <a:schemeClr val="tx1"/>
                </a:solidFill>
                <a:effectLst/>
                <a:latin typeface="+mn-lt"/>
                <a:ea typeface="+mn-ea"/>
                <a:cs typeface="+mn-cs"/>
              </a:rPr>
              <a:t> Norwood cold-water alcove, and </a:t>
            </a:r>
            <a:r>
              <a:rPr lang="en-US" sz="1200" b="1" kern="1200" dirty="0">
                <a:solidFill>
                  <a:schemeClr val="tx1"/>
                </a:solidFill>
                <a:effectLst/>
                <a:latin typeface="+mn-lt"/>
                <a:ea typeface="+mn-ea"/>
                <a:cs typeface="+mn-cs"/>
              </a:rPr>
              <a:t>c. </a:t>
            </a:r>
            <a:r>
              <a:rPr lang="en-US" sz="1200" kern="1200" dirty="0">
                <a:solidFill>
                  <a:schemeClr val="tx1"/>
                </a:solidFill>
                <a:effectLst/>
                <a:latin typeface="+mn-lt"/>
                <a:ea typeface="+mn-ea"/>
                <a:cs typeface="+mn-cs"/>
              </a:rPr>
              <a:t>all six cold-water alcoves. All linear fits are plotted with their 95% confidence interval envelopes. </a:t>
            </a:r>
            <a:r>
              <a:rPr lang="en-US" sz="1200" b="1" kern="1200" dirty="0">
                <a:solidFill>
                  <a:schemeClr val="tx1"/>
                </a:solidFill>
                <a:effectLst/>
                <a:latin typeface="+mn-lt"/>
                <a:ea typeface="+mn-ea"/>
                <a:cs typeface="+mn-cs"/>
              </a:rPr>
              <a:t>d.</a:t>
            </a:r>
            <a:r>
              <a:rPr lang="en-US" sz="1200" b="1" i="1" kern="120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Photo of a coastal cutthroat trout in Blue Ruin cold-water alcove (photo credit: Dave Herasimtschuk, Freshwaters Illustrated).</a:t>
            </a:r>
          </a:p>
          <a:p>
            <a:endParaRPr lang="en-US" dirty="0"/>
          </a:p>
        </p:txBody>
      </p:sp>
      <p:sp>
        <p:nvSpPr>
          <p:cNvPr id="4" name="Slide Number Placeholder 3"/>
          <p:cNvSpPr>
            <a:spLocks noGrp="1"/>
          </p:cNvSpPr>
          <p:nvPr>
            <p:ph type="sldNum" sz="quarter" idx="5"/>
          </p:nvPr>
        </p:nvSpPr>
        <p:spPr/>
        <p:txBody>
          <a:bodyPr/>
          <a:lstStyle/>
          <a:p>
            <a:fld id="{7550FB83-D258-4CC0-8421-363F00305204}" type="slidenum">
              <a:rPr lang="en-US" smtClean="0"/>
              <a:t>3</a:t>
            </a:fld>
            <a:endParaRPr lang="en-US"/>
          </a:p>
        </p:txBody>
      </p:sp>
    </p:spTree>
    <p:extLst>
      <p:ext uri="{BB962C8B-B14F-4D97-AF65-F5344CB8AC3E}">
        <p14:creationId xmlns:p14="http://schemas.microsoft.com/office/powerpoint/2010/main" val="14590666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Figure 4. </a:t>
            </a:r>
            <a:r>
              <a:rPr lang="en-US" dirty="0"/>
              <a:t>Diel changes in vertical position of tagged cutthroat trout for one week (July 30 – August 6). Each point represents the median depth of an individual fish during either day (red) or night (purple), and gray lines connect paired day-night values for the same fish and date.</a:t>
            </a:r>
          </a:p>
        </p:txBody>
      </p:sp>
      <p:sp>
        <p:nvSpPr>
          <p:cNvPr id="4" name="Slide Number Placeholder 3"/>
          <p:cNvSpPr>
            <a:spLocks noGrp="1"/>
          </p:cNvSpPr>
          <p:nvPr>
            <p:ph type="sldNum" sz="quarter" idx="5"/>
          </p:nvPr>
        </p:nvSpPr>
        <p:spPr/>
        <p:txBody>
          <a:bodyPr/>
          <a:lstStyle/>
          <a:p>
            <a:fld id="{7550FB83-D258-4CC0-8421-363F00305204}" type="slidenum">
              <a:rPr lang="en-US" smtClean="0"/>
              <a:t>4</a:t>
            </a:fld>
            <a:endParaRPr lang="en-US"/>
          </a:p>
        </p:txBody>
      </p:sp>
    </p:spTree>
    <p:extLst>
      <p:ext uri="{BB962C8B-B14F-4D97-AF65-F5344CB8AC3E}">
        <p14:creationId xmlns:p14="http://schemas.microsoft.com/office/powerpoint/2010/main" val="3882394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Figure 5.</a:t>
            </a:r>
            <a:r>
              <a:rPr lang="en-US" dirty="0"/>
              <a:t> Depth selection behavior of cutthroat trout in Norwood and Blue Ruin alcoves across diel cycles. </a:t>
            </a:r>
            <a:r>
              <a:rPr lang="en-US" b="1" dirty="0"/>
              <a:t>a.</a:t>
            </a:r>
            <a:r>
              <a:rPr lang="en-US" dirty="0"/>
              <a:t> Conceptual simulation of fish depth over a 24-hour period at Norwood (August 1), based on three idealized behavioral strategies: maximizing dissolved oxygen (</a:t>
            </a:r>
            <a:r>
              <a:rPr lang="en-US" dirty="0" err="1"/>
              <a:t>DOmax</a:t>
            </a:r>
            <a:r>
              <a:rPr lang="en-US" dirty="0"/>
              <a:t>), minimizing water temperature (</a:t>
            </a:r>
            <a:r>
              <a:rPr lang="en-US" dirty="0" err="1"/>
              <a:t>Tmin</a:t>
            </a:r>
            <a:r>
              <a:rPr lang="en-US" dirty="0"/>
              <a:t>), or optimizing both concurrently (</a:t>
            </a:r>
            <a:r>
              <a:rPr lang="en-US" dirty="0" err="1"/>
              <a:t>TDOopt</a:t>
            </a:r>
            <a:r>
              <a:rPr lang="en-US" dirty="0"/>
              <a:t>). </a:t>
            </a:r>
            <a:r>
              <a:rPr lang="en-US" b="1" dirty="0"/>
              <a:t>b.</a:t>
            </a:r>
            <a:r>
              <a:rPr lang="en-US" dirty="0"/>
              <a:t> Smoothed plot of observed diel vertical migration for tagged cutthroat trout at Norwood, pooled across individuals from August 1–7. </a:t>
            </a:r>
            <a:r>
              <a:rPr lang="en-US" b="1" dirty="0"/>
              <a:t>c.</a:t>
            </a:r>
            <a:r>
              <a:rPr lang="en-US" dirty="0"/>
              <a:t> Conceptual simulation of fish depth over a 24-hour period at Blue Ruin (August 1), using the same behavioral strategies. </a:t>
            </a:r>
            <a:r>
              <a:rPr lang="en-US" b="1" dirty="0"/>
              <a:t>d.</a:t>
            </a:r>
            <a:r>
              <a:rPr lang="en-US" dirty="0"/>
              <a:t> Smoothed plot of observed diel vertical migration for pooled </a:t>
            </a:r>
            <a:r>
              <a:rPr lang="en-US" dirty="0" err="1"/>
              <a:t>iButton</a:t>
            </a:r>
            <a:r>
              <a:rPr lang="en-US" dirty="0"/>
              <a:t> temperature data from Blue Ruin, August 1–7.</a:t>
            </a:r>
          </a:p>
          <a:p>
            <a:endParaRPr lang="en-US" dirty="0"/>
          </a:p>
          <a:p>
            <a:r>
              <a:rPr lang="en-US" dirty="0"/>
              <a:t>Ameliorate exposure to DO but mainly reduce exposure to temperature – restate temperature as metabolic costs plot inverse of oxygen to show radial plots of stressors metabolic costs and hypoxia</a:t>
            </a:r>
          </a:p>
        </p:txBody>
      </p:sp>
      <p:sp>
        <p:nvSpPr>
          <p:cNvPr id="4" name="Slide Number Placeholder 3"/>
          <p:cNvSpPr>
            <a:spLocks noGrp="1"/>
          </p:cNvSpPr>
          <p:nvPr>
            <p:ph type="sldNum" sz="quarter" idx="5"/>
          </p:nvPr>
        </p:nvSpPr>
        <p:spPr/>
        <p:txBody>
          <a:bodyPr/>
          <a:lstStyle/>
          <a:p>
            <a:fld id="{7550FB83-D258-4CC0-8421-363F00305204}" type="slidenum">
              <a:rPr lang="en-US" smtClean="0"/>
              <a:t>5</a:t>
            </a:fld>
            <a:endParaRPr lang="en-US"/>
          </a:p>
        </p:txBody>
      </p:sp>
    </p:spTree>
    <p:extLst>
      <p:ext uri="{BB962C8B-B14F-4D97-AF65-F5344CB8AC3E}">
        <p14:creationId xmlns:p14="http://schemas.microsoft.com/office/powerpoint/2010/main" val="1817741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t>Figure 6.</a:t>
            </a:r>
            <a:r>
              <a:rPr lang="en-US" i="0" dirty="0"/>
              <a:t> </a:t>
            </a:r>
            <a:r>
              <a:rPr lang="en-US" dirty="0"/>
              <a:t>Temperature and dissolved oxygen (DO) profiles in relation to observed fish depth in Blue Ruin and Norwood alcoves. Color gradients represent hourly environmental conditions on August 1. Black lines indicate the smoothed depth of tagged cutthroat trout, pooled across individuals from August 1–7. </a:t>
            </a:r>
            <a:r>
              <a:rPr lang="en-US" b="1" i="0" dirty="0"/>
              <a:t>a. </a:t>
            </a:r>
            <a:r>
              <a:rPr lang="en-US" i="0" dirty="0"/>
              <a:t>Temperature profile in Blue Ruin. </a:t>
            </a:r>
            <a:r>
              <a:rPr lang="en-US" b="1" i="0" dirty="0"/>
              <a:t>b. </a:t>
            </a:r>
            <a:r>
              <a:rPr lang="en-US" i="0" dirty="0"/>
              <a:t>Dissolved oxygen profile in Blue Ruin. </a:t>
            </a:r>
            <a:r>
              <a:rPr lang="en-US" b="1" i="0" dirty="0"/>
              <a:t>c. </a:t>
            </a:r>
            <a:r>
              <a:rPr lang="en-US" i="0" dirty="0"/>
              <a:t>Temperature profile in Norwood. </a:t>
            </a:r>
            <a:r>
              <a:rPr lang="en-US" b="1" i="0" dirty="0"/>
              <a:t>d. </a:t>
            </a:r>
            <a:r>
              <a:rPr lang="en-US" i="0" dirty="0"/>
              <a:t>Dissolved oxygen profile in Norwood.</a:t>
            </a:r>
          </a:p>
        </p:txBody>
      </p:sp>
      <p:sp>
        <p:nvSpPr>
          <p:cNvPr id="4" name="Slide Number Placeholder 3"/>
          <p:cNvSpPr>
            <a:spLocks noGrp="1"/>
          </p:cNvSpPr>
          <p:nvPr>
            <p:ph type="sldNum" sz="quarter" idx="5"/>
          </p:nvPr>
        </p:nvSpPr>
        <p:spPr/>
        <p:txBody>
          <a:bodyPr/>
          <a:lstStyle/>
          <a:p>
            <a:fld id="{7550FB83-D258-4CC0-8421-363F00305204}" type="slidenum">
              <a:rPr lang="en-US" smtClean="0"/>
              <a:t>6</a:t>
            </a:fld>
            <a:endParaRPr lang="en-US"/>
          </a:p>
        </p:txBody>
      </p:sp>
    </p:spTree>
    <p:extLst>
      <p:ext uri="{BB962C8B-B14F-4D97-AF65-F5344CB8AC3E}">
        <p14:creationId xmlns:p14="http://schemas.microsoft.com/office/powerpoint/2010/main" val="3684741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Need to redo now that we’ve added stochasticity to simulation. Figure 5.</a:t>
            </a:r>
            <a:r>
              <a:rPr lang="en-US" sz="1200" kern="1200" dirty="0">
                <a:solidFill>
                  <a:schemeClr val="tx1"/>
                </a:solidFill>
                <a:effectLst/>
                <a:latin typeface="+mn-lt"/>
                <a:ea typeface="+mn-ea"/>
                <a:cs typeface="+mn-cs"/>
              </a:rPr>
              <a:t> Maximum daily temperature and minimum daily DO encountered by simulated fish under three different strategies (n = 7 days), compared to corresponding average maximum and average minimum values for tagged fish held in enclosures (n = 19 individuals). </a:t>
            </a:r>
            <a:r>
              <a:rPr lang="en-US" sz="1200" i="1" kern="1200" dirty="0">
                <a:solidFill>
                  <a:schemeClr val="tx1"/>
                </a:solidFill>
                <a:effectLst/>
                <a:latin typeface="+mn-lt"/>
                <a:ea typeface="+mn-ea"/>
                <a:cs typeface="+mn-cs"/>
              </a:rPr>
              <a:t> - what did they select </a:t>
            </a:r>
            <a:r>
              <a:rPr lang="en-US" sz="1200" i="1" kern="1200" dirty="0" err="1">
                <a:solidFill>
                  <a:schemeClr val="tx1"/>
                </a:solidFill>
                <a:effectLst/>
                <a:latin typeface="+mn-lt"/>
                <a:ea typeface="+mn-ea"/>
                <a:cs typeface="+mn-cs"/>
              </a:rPr>
              <a:t>irellevant</a:t>
            </a:r>
            <a:r>
              <a:rPr lang="en-US" sz="1200" i="1" kern="1200" dirty="0">
                <a:solidFill>
                  <a:schemeClr val="tx1"/>
                </a:solidFill>
                <a:effectLst/>
                <a:latin typeface="+mn-lt"/>
                <a:ea typeface="+mn-ea"/>
                <a:cs typeface="+mn-cs"/>
              </a:rPr>
              <a:t> of how much is available, just care about range – this shows that they are between </a:t>
            </a:r>
            <a:r>
              <a:rPr lang="en-US" sz="1200" i="1" kern="1200" dirty="0" err="1">
                <a:solidFill>
                  <a:schemeClr val="tx1"/>
                </a:solidFill>
                <a:effectLst/>
                <a:latin typeface="+mn-lt"/>
                <a:ea typeface="+mn-ea"/>
                <a:cs typeface="+mn-cs"/>
              </a:rPr>
              <a:t>tmin</a:t>
            </a:r>
            <a:r>
              <a:rPr lang="en-US" sz="1200" i="1" kern="1200" dirty="0">
                <a:solidFill>
                  <a:schemeClr val="tx1"/>
                </a:solidFill>
                <a:effectLst/>
                <a:latin typeface="+mn-lt"/>
                <a:ea typeface="+mn-ea"/>
                <a:cs typeface="+mn-cs"/>
              </a:rPr>
              <a:t> and </a:t>
            </a:r>
            <a:r>
              <a:rPr lang="en-US" sz="1200" i="1" kern="1200" dirty="0" err="1">
                <a:solidFill>
                  <a:schemeClr val="tx1"/>
                </a:solidFill>
                <a:effectLst/>
                <a:latin typeface="+mn-lt"/>
                <a:ea typeface="+mn-ea"/>
                <a:cs typeface="+mn-cs"/>
              </a:rPr>
              <a:t>tdo</a:t>
            </a:r>
            <a:r>
              <a:rPr lang="en-US" sz="1200" i="1" kern="1200" dirty="0">
                <a:solidFill>
                  <a:schemeClr val="tx1"/>
                </a:solidFill>
                <a:effectLst/>
                <a:latin typeface="+mn-lt"/>
                <a:ea typeface="+mn-ea"/>
                <a:cs typeface="+mn-cs"/>
              </a:rPr>
              <a:t> opt – in Norwood avoid lowest Dos, in BR doesn’t buffer them from DO that much</a:t>
            </a:r>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7550FB83-D258-4CC0-8421-363F00305204}" type="slidenum">
              <a:rPr lang="en-US" smtClean="0"/>
              <a:t>8</a:t>
            </a:fld>
            <a:endParaRPr lang="en-US"/>
          </a:p>
        </p:txBody>
      </p:sp>
    </p:spTree>
    <p:extLst>
      <p:ext uri="{BB962C8B-B14F-4D97-AF65-F5344CB8AC3E}">
        <p14:creationId xmlns:p14="http://schemas.microsoft.com/office/powerpoint/2010/main" val="31531831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Principal component analysis (PCA) revealed that fish depth profiles were structured along two primary behavioral gradients: overall depth use (PC1, 69% of variance explained) and diel vertical migration (DVM) strength (PC2, 10%). Depth profiles with high PC1 scores reflected greater overall depth use throughout the day, while PC2 differentiated individuals based on the strength and timing of vertical movement. Blue Ruin fish tended to score higher on PC2, consistent with more pronounced DVM behavior, while Norwood fish generally occupied deeper positions in the water column (higher PC1 scores). A PERMANOVA on the scaled hourly depth matrix confirmed that site explains a small but statistically significant portion of the variation in vertical habitat use (R² = 0.092, </a:t>
            </a:r>
            <a:r>
              <a:rPr lang="en-US" i="1" dirty="0"/>
              <a:t>p</a:t>
            </a:r>
            <a:r>
              <a:rPr lang="en-US" dirty="0"/>
              <a:t> = 0.001). These patterns were also supported by the PCA loadings, which showed a gradual diel shift in depth use structure along PC2.</a:t>
            </a:r>
          </a:p>
          <a:p>
            <a:endParaRPr lang="en-US" dirty="0"/>
          </a:p>
        </p:txBody>
      </p:sp>
      <p:sp>
        <p:nvSpPr>
          <p:cNvPr id="4" name="Slide Number Placeholder 3"/>
          <p:cNvSpPr>
            <a:spLocks noGrp="1"/>
          </p:cNvSpPr>
          <p:nvPr>
            <p:ph type="sldNum" sz="quarter" idx="5"/>
          </p:nvPr>
        </p:nvSpPr>
        <p:spPr/>
        <p:txBody>
          <a:bodyPr/>
          <a:lstStyle/>
          <a:p>
            <a:fld id="{7550FB83-D258-4CC0-8421-363F00305204}" type="slidenum">
              <a:rPr lang="en-US" smtClean="0"/>
              <a:t>9</a:t>
            </a:fld>
            <a:endParaRPr lang="en-US"/>
          </a:p>
        </p:txBody>
      </p:sp>
    </p:spTree>
    <p:extLst>
      <p:ext uri="{BB962C8B-B14F-4D97-AF65-F5344CB8AC3E}">
        <p14:creationId xmlns:p14="http://schemas.microsoft.com/office/powerpoint/2010/main" val="24581647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Old part of Figure 4 to be removed?</a:t>
            </a:r>
          </a:p>
        </p:txBody>
      </p:sp>
      <p:sp>
        <p:nvSpPr>
          <p:cNvPr id="4" name="Slide Number Placeholder 3"/>
          <p:cNvSpPr>
            <a:spLocks noGrp="1"/>
          </p:cNvSpPr>
          <p:nvPr>
            <p:ph type="sldNum" sz="quarter" idx="5"/>
          </p:nvPr>
        </p:nvSpPr>
        <p:spPr/>
        <p:txBody>
          <a:bodyPr/>
          <a:lstStyle/>
          <a:p>
            <a:fld id="{7550FB83-D258-4CC0-8421-363F00305204}" type="slidenum">
              <a:rPr lang="en-US" smtClean="0"/>
              <a:t>10</a:t>
            </a:fld>
            <a:endParaRPr lang="en-US"/>
          </a:p>
        </p:txBody>
      </p:sp>
    </p:spTree>
    <p:extLst>
      <p:ext uri="{BB962C8B-B14F-4D97-AF65-F5344CB8AC3E}">
        <p14:creationId xmlns:p14="http://schemas.microsoft.com/office/powerpoint/2010/main" val="38153979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kern="1200" dirty="0">
                <a:solidFill>
                  <a:schemeClr val="tx1"/>
                </a:solidFill>
                <a:effectLst/>
                <a:latin typeface="+mn-lt"/>
                <a:ea typeface="+mn-ea"/>
                <a:cs typeface="+mn-cs"/>
              </a:rPr>
              <a:t>Old figure 6 to be removed? </a:t>
            </a:r>
            <a:r>
              <a:rPr lang="en-US" sz="1200" kern="1200" dirty="0">
                <a:solidFill>
                  <a:schemeClr val="tx1"/>
                </a:solidFill>
                <a:effectLst/>
                <a:latin typeface="+mn-lt"/>
                <a:ea typeface="+mn-ea"/>
                <a:cs typeface="+mn-cs"/>
              </a:rPr>
              <a:t>Predicted temperature selection for tagged coastal cutthroat trout held in enclosures during the 2-hour windows of DO-maxima and DO-minima. In all plots, DO was held constant at 4mg • L</a:t>
            </a:r>
            <a:r>
              <a:rPr lang="en-US" sz="1200" kern="1200" baseline="30000" dirty="0">
                <a:solidFill>
                  <a:schemeClr val="tx1"/>
                </a:solidFill>
                <a:effectLst/>
                <a:latin typeface="+mn-lt"/>
                <a:ea typeface="+mn-ea"/>
                <a:cs typeface="+mn-cs"/>
              </a:rPr>
              <a:t>-1</a:t>
            </a:r>
            <a:r>
              <a:rPr lang="en-US" sz="1200" kern="1200" dirty="0">
                <a:solidFill>
                  <a:schemeClr val="tx1"/>
                </a:solidFill>
                <a:effectLst/>
                <a:latin typeface="+mn-lt"/>
                <a:ea typeface="+mn-ea"/>
                <a:cs typeface="+mn-cs"/>
              </a:rPr>
              <a:t> (EPA threshold for cold-water fish), and the x-axis was constrained to the range of temperatures selected by fish during the 2-hour window. </a:t>
            </a:r>
          </a:p>
          <a:p>
            <a:endParaRPr lang="en-US" dirty="0"/>
          </a:p>
        </p:txBody>
      </p:sp>
      <p:sp>
        <p:nvSpPr>
          <p:cNvPr id="4" name="Slide Number Placeholder 3"/>
          <p:cNvSpPr>
            <a:spLocks noGrp="1"/>
          </p:cNvSpPr>
          <p:nvPr>
            <p:ph type="sldNum" sz="quarter" idx="5"/>
          </p:nvPr>
        </p:nvSpPr>
        <p:spPr/>
        <p:txBody>
          <a:bodyPr/>
          <a:lstStyle/>
          <a:p>
            <a:fld id="{7550FB83-D258-4CC0-8421-363F00305204}" type="slidenum">
              <a:rPr lang="en-US" smtClean="0"/>
              <a:t>11</a:t>
            </a:fld>
            <a:endParaRPr lang="en-US"/>
          </a:p>
        </p:txBody>
      </p:sp>
    </p:spTree>
    <p:extLst>
      <p:ext uri="{BB962C8B-B14F-4D97-AF65-F5344CB8AC3E}">
        <p14:creationId xmlns:p14="http://schemas.microsoft.com/office/powerpoint/2010/main" val="4347253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7663CEE-B982-43CA-AA6C-4E383AFD3DD1}"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1A52B-FB49-4377-A7CA-DD8D89591110}" type="slidenum">
              <a:rPr lang="en-US" smtClean="0"/>
              <a:t>‹#›</a:t>
            </a:fld>
            <a:endParaRPr lang="en-US"/>
          </a:p>
        </p:txBody>
      </p:sp>
    </p:spTree>
    <p:extLst>
      <p:ext uri="{BB962C8B-B14F-4D97-AF65-F5344CB8AC3E}">
        <p14:creationId xmlns:p14="http://schemas.microsoft.com/office/powerpoint/2010/main" val="155378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663CEE-B982-43CA-AA6C-4E383AFD3DD1}"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1A52B-FB49-4377-A7CA-DD8D89591110}" type="slidenum">
              <a:rPr lang="en-US" smtClean="0"/>
              <a:t>‹#›</a:t>
            </a:fld>
            <a:endParaRPr lang="en-US"/>
          </a:p>
        </p:txBody>
      </p:sp>
    </p:spTree>
    <p:extLst>
      <p:ext uri="{BB962C8B-B14F-4D97-AF65-F5344CB8AC3E}">
        <p14:creationId xmlns:p14="http://schemas.microsoft.com/office/powerpoint/2010/main" val="3229625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87663CEE-B982-43CA-AA6C-4E383AFD3DD1}"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1A52B-FB49-4377-A7CA-DD8D89591110}" type="slidenum">
              <a:rPr lang="en-US" smtClean="0"/>
              <a:t>‹#›</a:t>
            </a:fld>
            <a:endParaRPr lang="en-US"/>
          </a:p>
        </p:txBody>
      </p:sp>
    </p:spTree>
    <p:extLst>
      <p:ext uri="{BB962C8B-B14F-4D97-AF65-F5344CB8AC3E}">
        <p14:creationId xmlns:p14="http://schemas.microsoft.com/office/powerpoint/2010/main" val="6325003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7663CEE-B982-43CA-AA6C-4E383AFD3DD1}" type="datetimeFigureOut">
              <a:rPr lang="en-US" smtClean="0"/>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1A52B-FB49-4377-A7CA-DD8D89591110}" type="slidenum">
              <a:rPr lang="en-US" smtClean="0"/>
              <a:t>‹#›</a:t>
            </a:fld>
            <a:endParaRPr lang="en-US"/>
          </a:p>
        </p:txBody>
      </p:sp>
    </p:spTree>
    <p:extLst>
      <p:ext uri="{BB962C8B-B14F-4D97-AF65-F5344CB8AC3E}">
        <p14:creationId xmlns:p14="http://schemas.microsoft.com/office/powerpoint/2010/main" val="4102791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7663CEE-B982-43CA-AA6C-4E383AFD3DD1}" type="datetimeFigureOut">
              <a:rPr lang="en-US" smtClean="0"/>
              <a:t>7/24/2025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C1A52B-FB49-4377-A7CA-DD8D89591110}" type="slidenum">
              <a:rPr lang="en-US" smtClean="0"/>
              <a:t>‹#›</a:t>
            </a:fld>
            <a:endParaRPr lang="en-US"/>
          </a:p>
        </p:txBody>
      </p:sp>
    </p:spTree>
    <p:extLst>
      <p:ext uri="{BB962C8B-B14F-4D97-AF65-F5344CB8AC3E}">
        <p14:creationId xmlns:p14="http://schemas.microsoft.com/office/powerpoint/2010/main" val="34876237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7663CEE-B982-43CA-AA6C-4E383AFD3DD1}" type="datetimeFigureOut">
              <a:rPr lang="en-US" smtClean="0"/>
              <a:t>7/24/2025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C1A52B-FB49-4377-A7CA-DD8D89591110}" type="slidenum">
              <a:rPr lang="en-US" smtClean="0"/>
              <a:t>‹#›</a:t>
            </a:fld>
            <a:endParaRPr lang="en-US"/>
          </a:p>
        </p:txBody>
      </p:sp>
    </p:spTree>
    <p:extLst>
      <p:ext uri="{BB962C8B-B14F-4D97-AF65-F5344CB8AC3E}">
        <p14:creationId xmlns:p14="http://schemas.microsoft.com/office/powerpoint/2010/main" val="14239529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663CEE-B982-43CA-AA6C-4E383AFD3DD1}" type="datetimeFigureOut">
              <a:rPr lang="en-US" smtClean="0"/>
              <a:t>7/24/2025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C1A52B-FB49-4377-A7CA-DD8D89591110}" type="slidenum">
              <a:rPr lang="en-US" smtClean="0"/>
              <a:t>‹#›</a:t>
            </a:fld>
            <a:endParaRPr lang="en-US"/>
          </a:p>
        </p:txBody>
      </p:sp>
    </p:spTree>
    <p:extLst>
      <p:ext uri="{BB962C8B-B14F-4D97-AF65-F5344CB8AC3E}">
        <p14:creationId xmlns:p14="http://schemas.microsoft.com/office/powerpoint/2010/main" val="34310088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7663CEE-B982-43CA-AA6C-4E383AFD3DD1}" type="datetimeFigureOut">
              <a:rPr lang="en-US" smtClean="0"/>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1A52B-FB49-4377-A7CA-DD8D89591110}" type="slidenum">
              <a:rPr lang="en-US" smtClean="0"/>
              <a:t>‹#›</a:t>
            </a:fld>
            <a:endParaRPr lang="en-US"/>
          </a:p>
        </p:txBody>
      </p:sp>
    </p:spTree>
    <p:extLst>
      <p:ext uri="{BB962C8B-B14F-4D97-AF65-F5344CB8AC3E}">
        <p14:creationId xmlns:p14="http://schemas.microsoft.com/office/powerpoint/2010/main" val="4287502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7663CEE-B982-43CA-AA6C-4E383AFD3DD1}" type="datetimeFigureOut">
              <a:rPr lang="en-US" smtClean="0"/>
              <a:t>7/24/2025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C1A52B-FB49-4377-A7CA-DD8D89591110}" type="slidenum">
              <a:rPr lang="en-US" smtClean="0"/>
              <a:t>‹#›</a:t>
            </a:fld>
            <a:endParaRPr lang="en-US"/>
          </a:p>
        </p:txBody>
      </p:sp>
    </p:spTree>
    <p:extLst>
      <p:ext uri="{BB962C8B-B14F-4D97-AF65-F5344CB8AC3E}">
        <p14:creationId xmlns:p14="http://schemas.microsoft.com/office/powerpoint/2010/main" val="7478341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663CEE-B982-43CA-AA6C-4E383AFD3DD1}"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1A52B-FB49-4377-A7CA-DD8D89591110}" type="slidenum">
              <a:rPr lang="en-US" smtClean="0"/>
              <a:t>‹#›</a:t>
            </a:fld>
            <a:endParaRPr lang="en-US"/>
          </a:p>
        </p:txBody>
      </p:sp>
    </p:spTree>
    <p:extLst>
      <p:ext uri="{BB962C8B-B14F-4D97-AF65-F5344CB8AC3E}">
        <p14:creationId xmlns:p14="http://schemas.microsoft.com/office/powerpoint/2010/main" val="14822204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7663CEE-B982-43CA-AA6C-4E383AFD3DD1}" type="datetimeFigureOut">
              <a:rPr lang="en-US" smtClean="0"/>
              <a:t>7/24/2025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C1A52B-FB49-4377-A7CA-DD8D89591110}" type="slidenum">
              <a:rPr lang="en-US" smtClean="0"/>
              <a:t>‹#›</a:t>
            </a:fld>
            <a:endParaRPr lang="en-US"/>
          </a:p>
        </p:txBody>
      </p:sp>
    </p:spTree>
    <p:extLst>
      <p:ext uri="{BB962C8B-B14F-4D97-AF65-F5344CB8AC3E}">
        <p14:creationId xmlns:p14="http://schemas.microsoft.com/office/powerpoint/2010/main" val="28872100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663CEE-B982-43CA-AA6C-4E383AFD3DD1}" type="datetimeFigureOut">
              <a:rPr lang="en-US" smtClean="0"/>
              <a:t>7/24/2025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C1A52B-FB49-4377-A7CA-DD8D89591110}" type="slidenum">
              <a:rPr lang="en-US" smtClean="0"/>
              <a:t>‹#›</a:t>
            </a:fld>
            <a:endParaRPr lang="en-US"/>
          </a:p>
        </p:txBody>
      </p:sp>
    </p:spTree>
    <p:extLst>
      <p:ext uri="{BB962C8B-B14F-4D97-AF65-F5344CB8AC3E}">
        <p14:creationId xmlns:p14="http://schemas.microsoft.com/office/powerpoint/2010/main" val="7488622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2A9F44B8-B89A-212C-264C-F28A3FC723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6229" y="1164651"/>
            <a:ext cx="6779541" cy="45286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24980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A graph of different colored lines&#10;&#10;AI-generated content may be incorrect.">
            <a:extLst>
              <a:ext uri="{FF2B5EF4-FFF2-40B4-BE49-F238E27FC236}">
                <a16:creationId xmlns:a16="http://schemas.microsoft.com/office/drawing/2014/main" id="{3C8C1791-7AB4-CD88-3AEB-67CA174C53D9}"/>
              </a:ext>
            </a:extLst>
          </p:cNvPr>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396171" y="1166041"/>
            <a:ext cx="6827500" cy="5310992"/>
          </a:xfrm>
        </p:spPr>
      </p:pic>
      <p:sp>
        <p:nvSpPr>
          <p:cNvPr id="6" name="Text Box 9">
            <a:extLst>
              <a:ext uri="{FF2B5EF4-FFF2-40B4-BE49-F238E27FC236}">
                <a16:creationId xmlns:a16="http://schemas.microsoft.com/office/drawing/2014/main" id="{979E4264-031A-CE1D-F9EE-856FC2F277E7}"/>
              </a:ext>
            </a:extLst>
          </p:cNvPr>
          <p:cNvSpPr txBox="1"/>
          <p:nvPr/>
        </p:nvSpPr>
        <p:spPr>
          <a:xfrm>
            <a:off x="3755731" y="941803"/>
            <a:ext cx="957399" cy="29663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Aft>
                <a:spcPts val="800"/>
              </a:spcAft>
            </a:pPr>
            <a:r>
              <a:rPr lang="en-US" sz="1400" dirty="0">
                <a:effectLst/>
                <a:latin typeface="Times New Roman" panose="02020603050405020304" pitchFamily="18" charset="0"/>
                <a:ea typeface="Calibri" panose="020F0502020204030204" pitchFamily="34" charset="0"/>
                <a:cs typeface="Times New Roman" panose="02020603050405020304" pitchFamily="18" charset="0"/>
              </a:rPr>
              <a:t>DO-min</a:t>
            </a:r>
          </a:p>
        </p:txBody>
      </p:sp>
      <p:sp>
        <p:nvSpPr>
          <p:cNvPr id="7" name="Text Box 9">
            <a:extLst>
              <a:ext uri="{FF2B5EF4-FFF2-40B4-BE49-F238E27FC236}">
                <a16:creationId xmlns:a16="http://schemas.microsoft.com/office/drawing/2014/main" id="{B2B44F53-EEEE-51B5-5E6C-3C1489DF4EBB}"/>
              </a:ext>
            </a:extLst>
          </p:cNvPr>
          <p:cNvSpPr txBox="1"/>
          <p:nvPr/>
        </p:nvSpPr>
        <p:spPr>
          <a:xfrm>
            <a:off x="5985285" y="932035"/>
            <a:ext cx="957399" cy="296636"/>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lnSpc>
                <a:spcPct val="107000"/>
              </a:lnSpc>
              <a:spcAft>
                <a:spcPts val="800"/>
              </a:spcAft>
            </a:pPr>
            <a:r>
              <a:rPr lang="en-US" sz="1400" dirty="0">
                <a:latin typeface="Times New Roman" panose="02020603050405020304" pitchFamily="18" charset="0"/>
                <a:ea typeface="Calibri" panose="020F0502020204030204" pitchFamily="34" charset="0"/>
                <a:cs typeface="Times New Roman" panose="02020603050405020304" pitchFamily="18" charset="0"/>
              </a:rPr>
              <a:t>Temp-max</a:t>
            </a:r>
            <a:endParaRPr lang="en-US"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696624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different types of oxygen&#10;&#10;AI-generated content may be incorrect.">
            <a:extLst>
              <a:ext uri="{FF2B5EF4-FFF2-40B4-BE49-F238E27FC236}">
                <a16:creationId xmlns:a16="http://schemas.microsoft.com/office/drawing/2014/main" id="{D265149E-0D21-4A21-3360-763A6578CA6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31739" y="190493"/>
            <a:ext cx="7199391" cy="6477013"/>
          </a:xfrm>
          <a:prstGeom prst="rect">
            <a:avLst/>
          </a:prstGeom>
        </p:spPr>
      </p:pic>
      <p:pic>
        <p:nvPicPr>
          <p:cNvPr id="4" name="Picture 3" descr="20230816_OR_WillametteAlcoveCutthroat_DHerasimtschuk DSC07220 copy">
            <a:extLst>
              <a:ext uri="{FF2B5EF4-FFF2-40B4-BE49-F238E27FC236}">
                <a16:creationId xmlns:a16="http://schemas.microsoft.com/office/drawing/2014/main" id="{4D01A556-A517-AC2F-4264-FCC5168AD784}"/>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6328" r="9222"/>
          <a:stretch/>
        </p:blipFill>
        <p:spPr bwMode="auto">
          <a:xfrm>
            <a:off x="6566870" y="3541734"/>
            <a:ext cx="3364260" cy="2658650"/>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638436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graph of different colored lines&#10;&#10;AI-generated content may be incorrect.">
            <a:extLst>
              <a:ext uri="{FF2B5EF4-FFF2-40B4-BE49-F238E27FC236}">
                <a16:creationId xmlns:a16="http://schemas.microsoft.com/office/drawing/2014/main" id="{0EB62773-F660-FA31-82B0-D7ACBC1A658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810476" y="0"/>
            <a:ext cx="8571048" cy="6858000"/>
          </a:xfrm>
          <a:prstGeom prst="rect">
            <a:avLst/>
          </a:prstGeom>
        </p:spPr>
      </p:pic>
    </p:spTree>
    <p:extLst>
      <p:ext uri="{BB962C8B-B14F-4D97-AF65-F5344CB8AC3E}">
        <p14:creationId xmlns:p14="http://schemas.microsoft.com/office/powerpoint/2010/main" val="10782649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screenshot of a graph&#10;&#10;AI-generated content may be incorrect.">
            <a:extLst>
              <a:ext uri="{FF2B5EF4-FFF2-40B4-BE49-F238E27FC236}">
                <a16:creationId xmlns:a16="http://schemas.microsoft.com/office/drawing/2014/main" id="{A39FB345-4C4A-B86B-FD9D-E1418681D2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6109" y="3506804"/>
            <a:ext cx="6087613" cy="3383280"/>
          </a:xfrm>
          <a:prstGeom prst="rect">
            <a:avLst/>
          </a:prstGeom>
        </p:spPr>
      </p:pic>
      <p:pic>
        <p:nvPicPr>
          <p:cNvPr id="4" name="Picture 3" descr="A screenshot of a graph&#10;&#10;AI-generated content may be incorrect.">
            <a:extLst>
              <a:ext uri="{FF2B5EF4-FFF2-40B4-BE49-F238E27FC236}">
                <a16:creationId xmlns:a16="http://schemas.microsoft.com/office/drawing/2014/main" id="{B744AAA8-02BA-B523-5A0C-0634F9B090E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8085" y="9402"/>
            <a:ext cx="6087613" cy="3383280"/>
          </a:xfrm>
          <a:prstGeom prst="rect">
            <a:avLst/>
          </a:prstGeom>
        </p:spPr>
      </p:pic>
      <p:pic>
        <p:nvPicPr>
          <p:cNvPr id="9" name="Picture 8" descr="A graph of a wave&#10;&#10;AI-generated content may be incorrect.">
            <a:extLst>
              <a:ext uri="{FF2B5EF4-FFF2-40B4-BE49-F238E27FC236}">
                <a16:creationId xmlns:a16="http://schemas.microsoft.com/office/drawing/2014/main" id="{CDDB462E-7A54-265D-CE87-6CF036F6400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612584" y="3540807"/>
            <a:ext cx="4678690" cy="3236983"/>
          </a:xfrm>
          <a:prstGeom prst="rect">
            <a:avLst/>
          </a:prstGeom>
        </p:spPr>
      </p:pic>
      <p:pic>
        <p:nvPicPr>
          <p:cNvPr id="11" name="Picture 10" descr="A graph with numbers and lines&#10;&#10;AI-generated content may be incorrect.">
            <a:extLst>
              <a:ext uri="{FF2B5EF4-FFF2-40B4-BE49-F238E27FC236}">
                <a16:creationId xmlns:a16="http://schemas.microsoft.com/office/drawing/2014/main" id="{A2A3C60E-DBF9-6CE3-D40D-49D1538CD9F9}"/>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612584" y="155699"/>
            <a:ext cx="4678690" cy="3236983"/>
          </a:xfrm>
          <a:prstGeom prst="rect">
            <a:avLst/>
          </a:prstGeom>
        </p:spPr>
      </p:pic>
    </p:spTree>
    <p:extLst>
      <p:ext uri="{BB962C8B-B14F-4D97-AF65-F5344CB8AC3E}">
        <p14:creationId xmlns:p14="http://schemas.microsoft.com/office/powerpoint/2010/main" val="2266205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A screenshot of a computer screen&#10;&#10;AI-generated content may be incorrect.">
            <a:extLst>
              <a:ext uri="{FF2B5EF4-FFF2-40B4-BE49-F238E27FC236}">
                <a16:creationId xmlns:a16="http://schemas.microsoft.com/office/drawing/2014/main" id="{547EF7B2-4ECC-6DB7-79AE-024365C92FA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97143" y="-50104"/>
            <a:ext cx="8997714" cy="3599695"/>
          </a:xfrm>
          <a:prstGeom prst="rect">
            <a:avLst/>
          </a:prstGeom>
        </p:spPr>
      </p:pic>
      <p:pic>
        <p:nvPicPr>
          <p:cNvPr id="17" name="Picture 16" descr="A screenshot of a computer screen&#10;&#10;AI-generated content may be incorrect.">
            <a:extLst>
              <a:ext uri="{FF2B5EF4-FFF2-40B4-BE49-F238E27FC236}">
                <a16:creationId xmlns:a16="http://schemas.microsoft.com/office/drawing/2014/main" id="{88ED8B42-9AA1-00D2-646D-EFB17384043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7143" y="3350712"/>
            <a:ext cx="8997714" cy="3599695"/>
          </a:xfrm>
          <a:prstGeom prst="rect">
            <a:avLst/>
          </a:prstGeom>
        </p:spPr>
      </p:pic>
    </p:spTree>
    <p:extLst>
      <p:ext uri="{BB962C8B-B14F-4D97-AF65-F5344CB8AC3E}">
        <p14:creationId xmlns:p14="http://schemas.microsoft.com/office/powerpoint/2010/main" val="32142211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4343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graph&#10;&#10;AI-generated content may be incorrect.">
            <a:extLst>
              <a:ext uri="{FF2B5EF4-FFF2-40B4-BE49-F238E27FC236}">
                <a16:creationId xmlns:a16="http://schemas.microsoft.com/office/drawing/2014/main" id="{44494F9B-BAF2-B95B-4C8D-F6458A19D9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44224" y="0"/>
            <a:ext cx="7303551" cy="6858000"/>
          </a:xfrm>
          <a:prstGeom prst="rect">
            <a:avLst/>
          </a:prstGeom>
        </p:spPr>
      </p:pic>
      <p:sp>
        <p:nvSpPr>
          <p:cNvPr id="2" name="TextBox 1">
            <a:extLst>
              <a:ext uri="{FF2B5EF4-FFF2-40B4-BE49-F238E27FC236}">
                <a16:creationId xmlns:a16="http://schemas.microsoft.com/office/drawing/2014/main" id="{4EC70948-1565-B706-9C74-CE3A3F6F45AA}"/>
              </a:ext>
            </a:extLst>
          </p:cNvPr>
          <p:cNvSpPr txBox="1"/>
          <p:nvPr/>
        </p:nvSpPr>
        <p:spPr>
          <a:xfrm>
            <a:off x="3695178" y="87682"/>
            <a:ext cx="1065420" cy="369332"/>
          </a:xfrm>
          <a:prstGeom prst="rect">
            <a:avLst/>
          </a:prstGeom>
          <a:noFill/>
        </p:spPr>
        <p:txBody>
          <a:bodyPr wrap="none" rtlCol="0">
            <a:spAutoFit/>
          </a:bodyPr>
          <a:lstStyle/>
          <a:p>
            <a:r>
              <a:rPr lang="en-US" dirty="0"/>
              <a:t>Norwood</a:t>
            </a:r>
          </a:p>
        </p:txBody>
      </p:sp>
      <p:sp>
        <p:nvSpPr>
          <p:cNvPr id="3" name="TextBox 2">
            <a:extLst>
              <a:ext uri="{FF2B5EF4-FFF2-40B4-BE49-F238E27FC236}">
                <a16:creationId xmlns:a16="http://schemas.microsoft.com/office/drawing/2014/main" id="{78E01411-9A5A-77DB-18F2-1F59B5EB89B8}"/>
              </a:ext>
            </a:extLst>
          </p:cNvPr>
          <p:cNvSpPr txBox="1"/>
          <p:nvPr/>
        </p:nvSpPr>
        <p:spPr>
          <a:xfrm>
            <a:off x="6528148" y="87682"/>
            <a:ext cx="1074333" cy="369332"/>
          </a:xfrm>
          <a:prstGeom prst="rect">
            <a:avLst/>
          </a:prstGeom>
          <a:noFill/>
        </p:spPr>
        <p:txBody>
          <a:bodyPr wrap="none" rtlCol="0">
            <a:spAutoFit/>
          </a:bodyPr>
          <a:lstStyle/>
          <a:p>
            <a:r>
              <a:rPr lang="en-US" dirty="0"/>
              <a:t>Blue Ruin</a:t>
            </a:r>
          </a:p>
        </p:txBody>
      </p:sp>
    </p:spTree>
    <p:extLst>
      <p:ext uri="{BB962C8B-B14F-4D97-AF65-F5344CB8AC3E}">
        <p14:creationId xmlns:p14="http://schemas.microsoft.com/office/powerpoint/2010/main" val="17199844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8F14B9BC-AF3F-9F1B-FEDB-F3EE8D7FA06C}"/>
              </a:ext>
            </a:extLst>
          </p:cNvPr>
          <p:cNvPicPr>
            <a:picLocks noChangeAspect="1"/>
          </p:cNvPicPr>
          <p:nvPr/>
        </p:nvPicPr>
        <p:blipFill>
          <a:blip r:embed="rId3"/>
          <a:stretch>
            <a:fillRect/>
          </a:stretch>
        </p:blipFill>
        <p:spPr>
          <a:xfrm>
            <a:off x="2493233" y="0"/>
            <a:ext cx="7205534" cy="6858000"/>
          </a:xfrm>
          <a:prstGeom prst="rect">
            <a:avLst/>
          </a:prstGeom>
        </p:spPr>
      </p:pic>
    </p:spTree>
    <p:extLst>
      <p:ext uri="{BB962C8B-B14F-4D97-AF65-F5344CB8AC3E}">
        <p14:creationId xmlns:p14="http://schemas.microsoft.com/office/powerpoint/2010/main" val="4152152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62944" y="291678"/>
            <a:ext cx="4823265" cy="3204840"/>
          </a:xfrm>
          <a:prstGeom prst="rect">
            <a:avLst/>
          </a:prstGeom>
        </p:spPr>
      </p:pic>
      <p:pic>
        <p:nvPicPr>
          <p:cNvPr id="2" name="Picture 1">
            <a:extLst>
              <a:ext uri="{FF2B5EF4-FFF2-40B4-BE49-F238E27FC236}">
                <a16:creationId xmlns:a16="http://schemas.microsoft.com/office/drawing/2014/main" id="{AA08993A-61C2-EAFB-761A-3CE6BB44018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855187" y="3787097"/>
            <a:ext cx="4133313" cy="2701422"/>
          </a:xfrm>
          <a:prstGeom prst="rect">
            <a:avLst/>
          </a:prstGeom>
        </p:spPr>
      </p:pic>
      <p:sp>
        <p:nvSpPr>
          <p:cNvPr id="3" name="TextBox 2">
            <a:extLst>
              <a:ext uri="{FF2B5EF4-FFF2-40B4-BE49-F238E27FC236}">
                <a16:creationId xmlns:a16="http://schemas.microsoft.com/office/drawing/2014/main" id="{7685C664-5F6B-5431-4D05-07AC6A429533}"/>
              </a:ext>
            </a:extLst>
          </p:cNvPr>
          <p:cNvSpPr txBox="1"/>
          <p:nvPr/>
        </p:nvSpPr>
        <p:spPr>
          <a:xfrm>
            <a:off x="1567543" y="229835"/>
            <a:ext cx="337457" cy="369332"/>
          </a:xfrm>
          <a:prstGeom prst="rect">
            <a:avLst/>
          </a:prstGeom>
          <a:noFill/>
        </p:spPr>
        <p:txBody>
          <a:bodyPr wrap="square" rtlCol="0">
            <a:spAutoFit/>
          </a:bodyPr>
          <a:lstStyle/>
          <a:p>
            <a:endParaRPr lang="en-US" dirty="0"/>
          </a:p>
        </p:txBody>
      </p:sp>
    </p:spTree>
    <p:extLst>
      <p:ext uri="{BB962C8B-B14F-4D97-AF65-F5344CB8AC3E}">
        <p14:creationId xmlns:p14="http://schemas.microsoft.com/office/powerpoint/2010/main" val="1464403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 temperature and a temperature&#10;&#10;AI-generated content may be incorrect.">
            <a:extLst>
              <a:ext uri="{FF2B5EF4-FFF2-40B4-BE49-F238E27FC236}">
                <a16:creationId xmlns:a16="http://schemas.microsoft.com/office/drawing/2014/main" id="{9C62BE53-EBBB-BC70-FBB6-4834535A6E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7380" y="3566160"/>
            <a:ext cx="6857240" cy="3291840"/>
          </a:xfrm>
          <a:prstGeom prst="rect">
            <a:avLst/>
          </a:prstGeom>
        </p:spPr>
      </p:pic>
      <p:pic>
        <p:nvPicPr>
          <p:cNvPr id="5" name="Picture 4" descr="A graph of the temperature and the temperature&#10;&#10;AI-generated content may be incorrect.">
            <a:extLst>
              <a:ext uri="{FF2B5EF4-FFF2-40B4-BE49-F238E27FC236}">
                <a16:creationId xmlns:a16="http://schemas.microsoft.com/office/drawing/2014/main" id="{FA123394-F7D4-F823-BC94-0D43F8421F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67380" y="137160"/>
            <a:ext cx="6857240" cy="3291840"/>
          </a:xfrm>
          <a:prstGeom prst="rect">
            <a:avLst/>
          </a:prstGeom>
        </p:spPr>
      </p:pic>
    </p:spTree>
    <p:extLst>
      <p:ext uri="{BB962C8B-B14F-4D97-AF65-F5344CB8AC3E}">
        <p14:creationId xmlns:p14="http://schemas.microsoft.com/office/powerpoint/2010/main" val="12370092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1381</TotalTime>
  <Words>883</Words>
  <Application>Microsoft Office PowerPoint</Application>
  <PresentationFormat>Widescreen</PresentationFormat>
  <Paragraphs>26</Paragraphs>
  <Slides>11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Oregon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Barrett, Hannah</dc:creator>
  <cp:lastModifiedBy>Barrett, Hannah</cp:lastModifiedBy>
  <cp:revision>20</cp:revision>
  <dcterms:created xsi:type="dcterms:W3CDTF">2023-11-17T01:17:58Z</dcterms:created>
  <dcterms:modified xsi:type="dcterms:W3CDTF">2025-07-25T00:07:04Z</dcterms:modified>
</cp:coreProperties>
</file>