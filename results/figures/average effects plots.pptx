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79" r:id="rId2"/>
    <p:sldId id="278" r:id="rId3"/>
    <p:sldId id="282" r:id="rId4"/>
    <p:sldId id="286" r:id="rId5"/>
    <p:sldId id="283" r:id="rId6"/>
    <p:sldId id="287" r:id="rId7"/>
    <p:sldId id="270" r:id="rId8"/>
    <p:sldId id="269"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79075" autoAdjust="0"/>
  </p:normalViewPr>
  <p:slideViewPr>
    <p:cSldViewPr snapToGrid="0" showGuides="1">
      <p:cViewPr varScale="1">
        <p:scale>
          <a:sx n="55" d="100"/>
          <a:sy n="55" d="100"/>
        </p:scale>
        <p:origin x="956" y="6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32CAF-69E2-406B-BAAA-C87B6A03B1B4}" type="datetimeFigureOut">
              <a:rPr lang="en-US" smtClean="0"/>
              <a:t>10/29/2025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BF1FFE-FA67-465A-9B8F-3F81ABD0286F}" type="slidenum">
              <a:rPr lang="en-US" smtClean="0"/>
              <a:t>‹#›</a:t>
            </a:fld>
            <a:endParaRPr lang="en-US" dirty="0"/>
          </a:p>
        </p:txBody>
      </p:sp>
    </p:spTree>
    <p:extLst>
      <p:ext uri="{BB962C8B-B14F-4D97-AF65-F5344CB8AC3E}">
        <p14:creationId xmlns:p14="http://schemas.microsoft.com/office/powerpoint/2010/main" val="278794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Norwood 08/01-04- don’t go for coldest water, probably because of DO, but will hit 2.5 to keep temps low</a:t>
            </a:r>
          </a:p>
        </p:txBody>
      </p:sp>
      <p:sp>
        <p:nvSpPr>
          <p:cNvPr id="4" name="Slide Number Placeholder 3"/>
          <p:cNvSpPr>
            <a:spLocks noGrp="1"/>
          </p:cNvSpPr>
          <p:nvPr>
            <p:ph type="sldNum" sz="quarter" idx="5"/>
          </p:nvPr>
        </p:nvSpPr>
        <p:spPr/>
        <p:txBody>
          <a:bodyPr/>
          <a:lstStyle/>
          <a:p>
            <a:fld id="{67BF1FFE-FA67-465A-9B8F-3F81ABD0286F}" type="slidenum">
              <a:rPr lang="en-US" smtClean="0"/>
              <a:t>1</a:t>
            </a:fld>
            <a:endParaRPr lang="en-US" dirty="0"/>
          </a:p>
        </p:txBody>
      </p:sp>
    </p:spTree>
    <p:extLst>
      <p:ext uri="{BB962C8B-B14F-4D97-AF65-F5344CB8AC3E}">
        <p14:creationId xmlns:p14="http://schemas.microsoft.com/office/powerpoint/2010/main" val="2729540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Ruin 08/01-04 - </a:t>
            </a:r>
          </a:p>
        </p:txBody>
      </p:sp>
      <p:sp>
        <p:nvSpPr>
          <p:cNvPr id="4" name="Slide Number Placeholder 3"/>
          <p:cNvSpPr>
            <a:spLocks noGrp="1"/>
          </p:cNvSpPr>
          <p:nvPr>
            <p:ph type="sldNum" sz="quarter" idx="5"/>
          </p:nvPr>
        </p:nvSpPr>
        <p:spPr/>
        <p:txBody>
          <a:bodyPr/>
          <a:lstStyle/>
          <a:p>
            <a:fld id="{67BF1FFE-FA67-465A-9B8F-3F81ABD0286F}" type="slidenum">
              <a:rPr lang="en-US" smtClean="0"/>
              <a:t>2</a:t>
            </a:fld>
            <a:endParaRPr lang="en-US" dirty="0"/>
          </a:p>
        </p:txBody>
      </p:sp>
    </p:spTree>
    <p:extLst>
      <p:ext uri="{BB962C8B-B14F-4D97-AF65-F5344CB8AC3E}">
        <p14:creationId xmlns:p14="http://schemas.microsoft.com/office/powerpoint/2010/main" val="2747479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and Temp are both considered (improved AIC) except for Norwood during DO maxima where Temperature has best AIC (both is only slightly worse). For all models, Temperature only model is almost as good as model with both Temp and DO, so while both are important (except for Norwood during DO-maxima), temperature is the primary driver of movement. In Blue Ruin, having both Temp and DO in model does meaningfully improve AIC score for both DO-minima and DO-maxima….</a:t>
            </a:r>
          </a:p>
        </p:txBody>
      </p:sp>
      <p:sp>
        <p:nvSpPr>
          <p:cNvPr id="4" name="Slide Number Placeholder 3"/>
          <p:cNvSpPr>
            <a:spLocks noGrp="1"/>
          </p:cNvSpPr>
          <p:nvPr>
            <p:ph type="sldNum" sz="quarter" idx="5"/>
          </p:nvPr>
        </p:nvSpPr>
        <p:spPr/>
        <p:txBody>
          <a:bodyPr/>
          <a:lstStyle/>
          <a:p>
            <a:fld id="{67BF1FFE-FA67-465A-9B8F-3F81ABD0286F}" type="slidenum">
              <a:rPr lang="en-US" smtClean="0"/>
              <a:t>3</a:t>
            </a:fld>
            <a:endParaRPr lang="en-US" dirty="0"/>
          </a:p>
        </p:txBody>
      </p:sp>
    </p:spTree>
    <p:extLst>
      <p:ext uri="{BB962C8B-B14F-4D97-AF65-F5344CB8AC3E}">
        <p14:creationId xmlns:p14="http://schemas.microsoft.com/office/powerpoint/2010/main" val="1558495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ruin</a:t>
            </a:r>
          </a:p>
        </p:txBody>
      </p:sp>
      <p:sp>
        <p:nvSpPr>
          <p:cNvPr id="4" name="Slide Number Placeholder 3"/>
          <p:cNvSpPr>
            <a:spLocks noGrp="1"/>
          </p:cNvSpPr>
          <p:nvPr>
            <p:ph type="sldNum" sz="quarter" idx="5"/>
          </p:nvPr>
        </p:nvSpPr>
        <p:spPr/>
        <p:txBody>
          <a:bodyPr/>
          <a:lstStyle/>
          <a:p>
            <a:fld id="{67BF1FFE-FA67-465A-9B8F-3F81ABD0286F}" type="slidenum">
              <a:rPr lang="en-US" smtClean="0"/>
              <a:t>4</a:t>
            </a:fld>
            <a:endParaRPr lang="en-US" dirty="0"/>
          </a:p>
        </p:txBody>
      </p:sp>
    </p:spTree>
    <p:extLst>
      <p:ext uri="{BB962C8B-B14F-4D97-AF65-F5344CB8AC3E}">
        <p14:creationId xmlns:p14="http://schemas.microsoft.com/office/powerpoint/2010/main" val="4167108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Ruin</a:t>
            </a:r>
          </a:p>
        </p:txBody>
      </p:sp>
      <p:sp>
        <p:nvSpPr>
          <p:cNvPr id="4" name="Slide Number Placeholder 3"/>
          <p:cNvSpPr>
            <a:spLocks noGrp="1"/>
          </p:cNvSpPr>
          <p:nvPr>
            <p:ph type="sldNum" sz="quarter" idx="5"/>
          </p:nvPr>
        </p:nvSpPr>
        <p:spPr/>
        <p:txBody>
          <a:bodyPr/>
          <a:lstStyle/>
          <a:p>
            <a:fld id="{67BF1FFE-FA67-465A-9B8F-3F81ABD0286F}" type="slidenum">
              <a:rPr lang="en-US" smtClean="0"/>
              <a:t>5</a:t>
            </a:fld>
            <a:endParaRPr lang="en-US" dirty="0"/>
          </a:p>
        </p:txBody>
      </p:sp>
    </p:spTree>
    <p:extLst>
      <p:ext uri="{BB962C8B-B14F-4D97-AF65-F5344CB8AC3E}">
        <p14:creationId xmlns:p14="http://schemas.microsoft.com/office/powerpoint/2010/main" val="325534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Norwood</a:t>
            </a:r>
          </a:p>
        </p:txBody>
      </p:sp>
      <p:sp>
        <p:nvSpPr>
          <p:cNvPr id="4" name="Slide Number Placeholder 3"/>
          <p:cNvSpPr>
            <a:spLocks noGrp="1"/>
          </p:cNvSpPr>
          <p:nvPr>
            <p:ph type="sldNum" sz="quarter" idx="5"/>
          </p:nvPr>
        </p:nvSpPr>
        <p:spPr/>
        <p:txBody>
          <a:bodyPr/>
          <a:lstStyle/>
          <a:p>
            <a:fld id="{67BF1FFE-FA67-465A-9B8F-3F81ABD0286F}" type="slidenum">
              <a:rPr lang="en-US" smtClean="0"/>
              <a:t>6</a:t>
            </a:fld>
            <a:endParaRPr lang="en-US" dirty="0"/>
          </a:p>
        </p:txBody>
      </p:sp>
    </p:spTree>
    <p:extLst>
      <p:ext uri="{BB962C8B-B14F-4D97-AF65-F5344CB8AC3E}">
        <p14:creationId xmlns:p14="http://schemas.microsoft.com/office/powerpoint/2010/main" val="4007115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Ok roughly the dark/mid-purple is DO-minima, light grey is DO-maxima.</a:t>
            </a:r>
          </a:p>
          <a:p>
            <a:endParaRPr lang="en-US" dirty="0"/>
          </a:p>
          <a:p>
            <a:r>
              <a:rPr lang="en-US" dirty="0"/>
              <a:t>Norwood – fish are doing what we’d expect and moving shallower in the water column during DO-minima and incurring warmer temperatures (trade-off)</a:t>
            </a:r>
          </a:p>
        </p:txBody>
      </p:sp>
      <p:sp>
        <p:nvSpPr>
          <p:cNvPr id="4" name="Slide Number Placeholder 3"/>
          <p:cNvSpPr>
            <a:spLocks noGrp="1"/>
          </p:cNvSpPr>
          <p:nvPr>
            <p:ph type="sldNum" sz="quarter" idx="5"/>
          </p:nvPr>
        </p:nvSpPr>
        <p:spPr/>
        <p:txBody>
          <a:bodyPr/>
          <a:lstStyle/>
          <a:p>
            <a:fld id="{67BF1FFE-FA67-465A-9B8F-3F81ABD0286F}" type="slidenum">
              <a:rPr lang="en-US" smtClean="0"/>
              <a:t>7</a:t>
            </a:fld>
            <a:endParaRPr lang="en-US" dirty="0"/>
          </a:p>
        </p:txBody>
      </p:sp>
    </p:spTree>
    <p:extLst>
      <p:ext uri="{BB962C8B-B14F-4D97-AF65-F5344CB8AC3E}">
        <p14:creationId xmlns:p14="http://schemas.microsoft.com/office/powerpoint/2010/main" val="2408770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Blue Ruin fish exhibit DVM with very inconsistent patterns among individuals and over time</a:t>
            </a:r>
          </a:p>
          <a:p>
            <a:r>
              <a:rPr lang="en-US" b="0" dirty="0"/>
              <a:t>Fish 5 shows expected moving shallower/warmer during DO-minima and deeper/cooler during DO-maxima </a:t>
            </a:r>
          </a:p>
          <a:p>
            <a:r>
              <a:rPr lang="en-US" b="0" dirty="0"/>
              <a:t>Fish 8 and Fish 31 initially follow similar pattern but then switch to cooler temperatures during DO-minima. Fish 8 still moves shallower but less distinctly, fish 31 DVM breaks down and switches to somewhat cooler temps during.</a:t>
            </a:r>
          </a:p>
          <a:p>
            <a:r>
              <a:rPr lang="en-US" b="0" dirty="0"/>
              <a:t>Fish 7 consistently showed an inverse pattern, moved to cooler temperatures during DO-minima and warmer temperatures during DO-maxima.</a:t>
            </a:r>
          </a:p>
          <a:p>
            <a:r>
              <a:rPr lang="en-US" b="0" dirty="0"/>
              <a:t>Individuals still move deepest during DO-maxima (daytime) but the temperature associated with depth shift varies widely. Variability likely contributes to counterintuitive model fit</a:t>
            </a:r>
          </a:p>
        </p:txBody>
      </p:sp>
      <p:sp>
        <p:nvSpPr>
          <p:cNvPr id="4" name="Slide Number Placeholder 3"/>
          <p:cNvSpPr>
            <a:spLocks noGrp="1"/>
          </p:cNvSpPr>
          <p:nvPr>
            <p:ph type="sldNum" sz="quarter" idx="5"/>
          </p:nvPr>
        </p:nvSpPr>
        <p:spPr/>
        <p:txBody>
          <a:bodyPr/>
          <a:lstStyle/>
          <a:p>
            <a:fld id="{67BF1FFE-FA67-465A-9B8F-3F81ABD0286F}" type="slidenum">
              <a:rPr lang="en-US" smtClean="0"/>
              <a:t>8</a:t>
            </a:fld>
            <a:endParaRPr lang="en-US" dirty="0"/>
          </a:p>
        </p:txBody>
      </p:sp>
    </p:spTree>
    <p:extLst>
      <p:ext uri="{BB962C8B-B14F-4D97-AF65-F5344CB8AC3E}">
        <p14:creationId xmlns:p14="http://schemas.microsoft.com/office/powerpoint/2010/main" val="3722502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to do – heat map is single day, DVM movement overlay is for a multi-day period. Taal wants separate plots per day, keep one as main figure and move rest into supplement.</a:t>
            </a:r>
          </a:p>
        </p:txBody>
      </p:sp>
      <p:sp>
        <p:nvSpPr>
          <p:cNvPr id="4" name="Slide Number Placeholder 3"/>
          <p:cNvSpPr>
            <a:spLocks noGrp="1"/>
          </p:cNvSpPr>
          <p:nvPr>
            <p:ph type="sldNum" sz="quarter" idx="5"/>
          </p:nvPr>
        </p:nvSpPr>
        <p:spPr/>
        <p:txBody>
          <a:bodyPr/>
          <a:lstStyle/>
          <a:p>
            <a:fld id="{67BF1FFE-FA67-465A-9B8F-3F81ABD0286F}" type="slidenum">
              <a:rPr lang="en-US" smtClean="0"/>
              <a:t>9</a:t>
            </a:fld>
            <a:endParaRPr lang="en-US" dirty="0"/>
          </a:p>
        </p:txBody>
      </p:sp>
    </p:spTree>
    <p:extLst>
      <p:ext uri="{BB962C8B-B14F-4D97-AF65-F5344CB8AC3E}">
        <p14:creationId xmlns:p14="http://schemas.microsoft.com/office/powerpoint/2010/main" val="671476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9F312-3671-BB2B-D62D-5F795B399E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895B8F-D707-91E6-936B-2D9D58DB95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6A7D9D-E0F9-4A5D-BEC6-9CD13AA59F44}"/>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3602C30C-2EE4-62DB-B862-CC72298E9E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29A230-82E0-425B-FADB-B40BBF4D4ACF}"/>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17356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12F1-BE9C-AED1-E21B-D36E716FC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191C63-857A-5F3A-1A58-8990E5687D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D70BA-358C-3FC0-235B-24DC569DF59E}"/>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4DC4A57A-6220-0076-CC6A-6DB23A4A16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CD09ED7-81F8-8FFD-FF1A-1CFE14C0C3D1}"/>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55583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9AA7B-BA58-C5E7-C251-8DF205A901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390F84-84BF-3C6B-1B65-85B4785EFD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7A1E36-C770-3883-4FA1-2CE7D84C3731}"/>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7A217135-223D-8817-6872-0750E05C6F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BF7B4-6D50-7FC3-E44A-CE3382A6C6C2}"/>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288755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3770-760A-1E22-3FAB-891622A0CA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921C2E-C044-CE1F-8A5B-0D8C0B2F4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4C14CA-6E8A-77C3-85FC-B7477B872F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3BAC2C-DE0F-ABF0-9296-3B803F5FFF21}"/>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6" name="Footer Placeholder 5">
            <a:extLst>
              <a:ext uri="{FF2B5EF4-FFF2-40B4-BE49-F238E27FC236}">
                <a16:creationId xmlns:a16="http://schemas.microsoft.com/office/drawing/2014/main" id="{4170D7D2-2264-A970-418F-87C1C138025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531CD46-D137-0674-F039-BF83072505ED}"/>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208495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098CA-6D6C-D0B2-26A0-47EAFAD720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1A3C1F-11E4-EBE7-0863-76CCC002CA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3F2F35-2325-521B-5852-212CDA8767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A8FF84-045F-6793-391E-95D60E4274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EB910C-5747-3A71-7762-FDD22DC036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53279F-6E68-0D5A-4D22-6B7E01BEA08B}"/>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8" name="Footer Placeholder 7">
            <a:extLst>
              <a:ext uri="{FF2B5EF4-FFF2-40B4-BE49-F238E27FC236}">
                <a16:creationId xmlns:a16="http://schemas.microsoft.com/office/drawing/2014/main" id="{954922BB-63B7-8323-DB4A-A275490E978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8A2918D-840B-DB10-81F2-C3C314D905DD}"/>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5900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8135-E71E-F3ED-6972-677F84DC3D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43173F-D453-1EFB-0877-8EAF237472E4}"/>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4" name="Footer Placeholder 3">
            <a:extLst>
              <a:ext uri="{FF2B5EF4-FFF2-40B4-BE49-F238E27FC236}">
                <a16:creationId xmlns:a16="http://schemas.microsoft.com/office/drawing/2014/main" id="{9FCE5346-6859-9526-8466-67DD6A9A07F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867A91-775C-B91D-FBBA-1EFD5913E309}"/>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250002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382FEC-863D-9987-DB52-A37B466C2690}"/>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3" name="Footer Placeholder 2">
            <a:extLst>
              <a:ext uri="{FF2B5EF4-FFF2-40B4-BE49-F238E27FC236}">
                <a16:creationId xmlns:a16="http://schemas.microsoft.com/office/drawing/2014/main" id="{C0459162-0C1F-CEAA-0134-A3F9F180847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C3CBA87-75FA-4553-4B27-4A49FC3CCA9B}"/>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928014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AC59-45A0-C342-8587-C2D184F6A6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EF81DF-6F23-8F09-16A3-FBB3F2C1CD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C9F7ED-297E-9F37-7220-89685EF4C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1B4C21-CF5B-B258-0CB5-EC7B1DBB1812}"/>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6" name="Footer Placeholder 5">
            <a:extLst>
              <a:ext uri="{FF2B5EF4-FFF2-40B4-BE49-F238E27FC236}">
                <a16:creationId xmlns:a16="http://schemas.microsoft.com/office/drawing/2014/main" id="{933D9FA6-1515-4B63-853B-245DCA9FD6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C5791F-F7A3-889A-86B2-EB303E4AFB86}"/>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1222872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7CE45-A3C7-E30D-627E-1C6AAB064E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6601A9-85AA-C7E3-25F0-C972F26904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876D8A10-E4D4-B449-59BF-97365C05E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6F114C-D8FD-AFB3-8F84-423D19F8C562}"/>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6" name="Footer Placeholder 5">
            <a:extLst>
              <a:ext uri="{FF2B5EF4-FFF2-40B4-BE49-F238E27FC236}">
                <a16:creationId xmlns:a16="http://schemas.microsoft.com/office/drawing/2014/main" id="{C15E7523-FF1C-3FF1-DD80-5AB611D029D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288567-FDEA-542A-1639-5A8EB69CDC1C}"/>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44642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4870-5491-FC42-B65B-ED57FFD08B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EBD00D-D5DB-702E-FD91-566EE7B8E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B54241-27CA-8F3F-0433-99442403347E}"/>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842E8D6B-B4E8-680A-5DD1-62FE3A97AF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AE47A3D-CDDD-CBC1-2081-75233EF98495}"/>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10568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5D680-5A82-CF63-353E-9357F630D4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6377A5-543D-6700-D857-5689582A78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8D80D9-AF14-1389-6123-905C97CCD538}"/>
              </a:ext>
            </a:extLst>
          </p:cNvPr>
          <p:cNvSpPr>
            <a:spLocks noGrp="1"/>
          </p:cNvSpPr>
          <p:nvPr>
            <p:ph type="dt" sz="half" idx="10"/>
          </p:nvPr>
        </p:nvSpPr>
        <p:spPr/>
        <p:txBody>
          <a:body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5F5AAAB3-4A5E-E728-4B67-E2CFE431E1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A51D884-7A0B-E91A-AA1C-8DC89AB75B25}"/>
              </a:ext>
            </a:extLst>
          </p:cNvPr>
          <p:cNvSpPr>
            <a:spLocks noGrp="1"/>
          </p:cNvSpPr>
          <p:nvPr>
            <p:ph type="sldNum" sz="quarter" idx="12"/>
          </p:nvPr>
        </p:nvSpPr>
        <p:spPr/>
        <p:txBody>
          <a:bodyPr/>
          <a:lstStyle/>
          <a:p>
            <a:fld id="{F8EFA539-C46F-422E-A47B-AAF6FB643BE6}" type="slidenum">
              <a:rPr lang="en-US" smtClean="0"/>
              <a:t>‹#›</a:t>
            </a:fld>
            <a:endParaRPr lang="en-US" dirty="0"/>
          </a:p>
        </p:txBody>
      </p:sp>
    </p:spTree>
    <p:extLst>
      <p:ext uri="{BB962C8B-B14F-4D97-AF65-F5344CB8AC3E}">
        <p14:creationId xmlns:p14="http://schemas.microsoft.com/office/powerpoint/2010/main" val="337865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7D784E-C3D0-BF8E-A67E-F56C1C2346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4DE391-44B4-A128-C793-F06AFE465D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68FBBE-6B7D-269A-BDBF-AA93EE2D4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4DA73D-9417-4802-BD20-3B2B58EBB73E}" type="datetimeFigureOut">
              <a:rPr lang="en-US" smtClean="0"/>
              <a:t>10/29/2025</a:t>
            </a:fld>
            <a:endParaRPr lang="en-US" dirty="0"/>
          </a:p>
        </p:txBody>
      </p:sp>
      <p:sp>
        <p:nvSpPr>
          <p:cNvPr id="5" name="Footer Placeholder 4">
            <a:extLst>
              <a:ext uri="{FF2B5EF4-FFF2-40B4-BE49-F238E27FC236}">
                <a16:creationId xmlns:a16="http://schemas.microsoft.com/office/drawing/2014/main" id="{7550CB9A-BC86-06BD-3241-55771D29F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D9E721F-9979-8DB3-5A87-11D3376018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FA539-C46F-422E-A47B-AAF6FB643BE6}" type="slidenum">
              <a:rPr lang="en-US" smtClean="0"/>
              <a:t>‹#›</a:t>
            </a:fld>
            <a:endParaRPr lang="en-US" dirty="0"/>
          </a:p>
        </p:txBody>
      </p:sp>
    </p:spTree>
    <p:extLst>
      <p:ext uri="{BB962C8B-B14F-4D97-AF65-F5344CB8AC3E}">
        <p14:creationId xmlns:p14="http://schemas.microsoft.com/office/powerpoint/2010/main" val="3680149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graphs of different types of gas&#10;&#10;AI-generated content may be incorrect.">
            <a:extLst>
              <a:ext uri="{FF2B5EF4-FFF2-40B4-BE49-F238E27FC236}">
                <a16:creationId xmlns:a16="http://schemas.microsoft.com/office/drawing/2014/main" id="{D396CFF7-B20F-B834-EC4A-72055FBD57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20" y="0"/>
            <a:ext cx="6096000" cy="6858000"/>
          </a:xfrm>
          <a:prstGeom prst="rect">
            <a:avLst/>
          </a:prstGeom>
        </p:spPr>
      </p:pic>
      <p:graphicFrame>
        <p:nvGraphicFramePr>
          <p:cNvPr id="4" name="Table 3">
            <a:extLst>
              <a:ext uri="{FF2B5EF4-FFF2-40B4-BE49-F238E27FC236}">
                <a16:creationId xmlns:a16="http://schemas.microsoft.com/office/drawing/2014/main" id="{926C1ED8-9966-250A-F561-C6EDA418FAFB}"/>
              </a:ext>
            </a:extLst>
          </p:cNvPr>
          <p:cNvGraphicFramePr>
            <a:graphicFrameLocks noGrp="1"/>
          </p:cNvGraphicFramePr>
          <p:nvPr>
            <p:extLst>
              <p:ext uri="{D42A27DB-BD31-4B8C-83A1-F6EECF244321}">
                <p14:modId xmlns:p14="http://schemas.microsoft.com/office/powerpoint/2010/main" val="1332076850"/>
              </p:ext>
            </p:extLst>
          </p:nvPr>
        </p:nvGraphicFramePr>
        <p:xfrm>
          <a:off x="6605205" y="2451100"/>
          <a:ext cx="4968875" cy="977900"/>
        </p:xfrm>
        <a:graphic>
          <a:graphicData uri="http://schemas.openxmlformats.org/drawingml/2006/table">
            <a:tbl>
              <a:tblPr/>
              <a:tblGrid>
                <a:gridCol w="2905125">
                  <a:extLst>
                    <a:ext uri="{9D8B030D-6E8A-4147-A177-3AD203B41FA5}">
                      <a16:colId xmlns:a16="http://schemas.microsoft.com/office/drawing/2014/main" val="3523286350"/>
                    </a:ext>
                  </a:extLst>
                </a:gridCol>
                <a:gridCol w="958850">
                  <a:extLst>
                    <a:ext uri="{9D8B030D-6E8A-4147-A177-3AD203B41FA5}">
                      <a16:colId xmlns:a16="http://schemas.microsoft.com/office/drawing/2014/main" val="1543810575"/>
                    </a:ext>
                  </a:extLst>
                </a:gridCol>
                <a:gridCol w="1104900">
                  <a:extLst>
                    <a:ext uri="{9D8B030D-6E8A-4147-A177-3AD203B41FA5}">
                      <a16:colId xmlns:a16="http://schemas.microsoft.com/office/drawing/2014/main" val="575502188"/>
                    </a:ext>
                  </a:extLst>
                </a:gridCol>
              </a:tblGrid>
              <a:tr h="190500">
                <a:tc>
                  <a:txBody>
                    <a:bodyPr/>
                    <a:lstStyle/>
                    <a:p>
                      <a:pPr algn="l" fontAlgn="ctr">
                        <a:buNone/>
                      </a:pPr>
                      <a:r>
                        <a:rPr lang="en-US" sz="1200" b="1" i="0" u="none" strike="noStrike" dirty="0">
                          <a:solidFill>
                            <a:srgbClr val="000000"/>
                          </a:solidFill>
                          <a:effectLst/>
                          <a:latin typeface="Times New Roman" panose="02020603050405020304" pitchFamily="18" charset="0"/>
                        </a:rPr>
                        <a:t>Variable</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200" b="1" i="0" u="none" strike="noStrike">
                          <a:solidFill>
                            <a:srgbClr val="000000"/>
                          </a:solidFill>
                          <a:effectLst/>
                          <a:latin typeface="Times New Roman" panose="02020603050405020304" pitchFamily="18" charset="0"/>
                        </a:rPr>
                        <a:t>DO-maxima</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200" b="1" i="0" u="none" strike="noStrike" dirty="0">
                          <a:solidFill>
                            <a:srgbClr val="000000"/>
                          </a:solidFill>
                          <a:effectLst/>
                          <a:latin typeface="Times New Roman" panose="02020603050405020304" pitchFamily="18" charset="0"/>
                        </a:rPr>
                        <a:t>DO-minima</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43195"/>
                  </a:ext>
                </a:extLst>
              </a:tr>
              <a:tr h="196850">
                <a:tc>
                  <a:txBody>
                    <a:bodyPr/>
                    <a:lstStyle/>
                    <a:p>
                      <a:pPr algn="l" fontAlgn="ctr">
                        <a:buNone/>
                      </a:pPr>
                      <a:r>
                        <a:rPr lang="en-US" sz="1200" b="1" i="0" u="none" strike="noStrike" dirty="0">
                          <a:solidFill>
                            <a:srgbClr val="000000"/>
                          </a:solidFill>
                          <a:effectLst/>
                          <a:latin typeface="Times New Roman" panose="02020603050405020304" pitchFamily="18" charset="0"/>
                        </a:rPr>
                        <a:t>Available range temperature (°C)</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12.25 – 25.71</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11.81 – 20.70</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769565896"/>
                  </a:ext>
                </a:extLst>
              </a:tr>
              <a:tr h="196850">
                <a:tc>
                  <a:txBody>
                    <a:bodyPr/>
                    <a:lstStyle/>
                    <a:p>
                      <a:pPr algn="l" fontAlgn="ctr">
                        <a:buNone/>
                      </a:pPr>
                      <a:r>
                        <a:rPr lang="en-US" sz="1200" b="1" i="0" u="none" strike="noStrike" dirty="0">
                          <a:solidFill>
                            <a:srgbClr val="000000"/>
                          </a:solidFill>
                          <a:effectLst/>
                          <a:latin typeface="Times New Roman" panose="02020603050405020304" pitchFamily="18" charset="0"/>
                        </a:rPr>
                        <a:t>Available range DO (mg L⁻¹)</a:t>
                      </a:r>
                    </a:p>
                  </a:txBody>
                  <a:tcPr marL="6350" marR="6350" marT="6350" marB="0" anchor="ctr">
                    <a:lnL>
                      <a:noFill/>
                    </a:lnL>
                    <a:lnR>
                      <a:noFill/>
                    </a:lnR>
                    <a:lnT>
                      <a:noFill/>
                    </a:lnT>
                    <a:lnB>
                      <a:noFill/>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7.82 – 12.42</a:t>
                      </a:r>
                    </a:p>
                  </a:txBody>
                  <a:tcPr marL="6350" marR="6350" marT="6350" marB="0" anchor="ctr">
                    <a:lnL>
                      <a:noFill/>
                    </a:lnL>
                    <a:lnR>
                      <a:noFill/>
                    </a:lnR>
                    <a:lnT>
                      <a:noFill/>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0.66 – 7.54</a:t>
                      </a:r>
                    </a:p>
                  </a:txBody>
                  <a:tcPr marL="6350" marR="6350" marT="6350" marB="0" anchor="ctr">
                    <a:lnL>
                      <a:noFill/>
                    </a:lnL>
                    <a:lnR>
                      <a:noFill/>
                    </a:lnR>
                    <a:lnT>
                      <a:noFill/>
                    </a:lnT>
                    <a:lnB>
                      <a:noFill/>
                    </a:lnB>
                    <a:noFill/>
                  </a:tcPr>
                </a:tc>
                <a:extLst>
                  <a:ext uri="{0D108BD9-81ED-4DB2-BD59-A6C34878D82A}">
                    <a16:rowId xmlns:a16="http://schemas.microsoft.com/office/drawing/2014/main" val="633836080"/>
                  </a:ext>
                </a:extLst>
              </a:tr>
              <a:tr h="196850">
                <a:tc>
                  <a:txBody>
                    <a:bodyPr/>
                    <a:lstStyle/>
                    <a:p>
                      <a:pPr algn="l" fontAlgn="ctr">
                        <a:buNone/>
                      </a:pPr>
                      <a:r>
                        <a:rPr lang="en-US" sz="1200" b="1" i="0" u="none" strike="noStrike" dirty="0">
                          <a:solidFill>
                            <a:srgbClr val="000000"/>
                          </a:solidFill>
                          <a:effectLst/>
                          <a:latin typeface="Times New Roman" panose="02020603050405020304" pitchFamily="18" charset="0"/>
                        </a:rPr>
                        <a:t>Peak selection probability temperature (°C)</a:t>
                      </a:r>
                    </a:p>
                  </a:txBody>
                  <a:tcPr marL="6350" marR="6350" marT="6350" marB="0" anchor="ctr">
                    <a:lnL>
                      <a:noFill/>
                    </a:lnL>
                    <a:lnR>
                      <a:noFill/>
                    </a:lnR>
                    <a:lnT>
                      <a:noFill/>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15.13</a:t>
                      </a:r>
                    </a:p>
                  </a:txBody>
                  <a:tcPr marL="6350" marR="6350" marT="6350" marB="0" anchor="ctr">
                    <a:lnL>
                      <a:noFill/>
                    </a:lnL>
                    <a:lnR>
                      <a:noFill/>
                    </a:lnR>
                    <a:lnT>
                      <a:noFill/>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15.02 </a:t>
                      </a:r>
                    </a:p>
                  </a:txBody>
                  <a:tcPr marL="6350" marR="6350" marT="6350" marB="0" anchor="ctr">
                    <a:lnL>
                      <a:noFill/>
                    </a:lnL>
                    <a:lnR>
                      <a:noFill/>
                    </a:lnR>
                    <a:lnT>
                      <a:noFill/>
                    </a:lnT>
                    <a:lnB>
                      <a:noFill/>
                    </a:lnB>
                    <a:noFill/>
                  </a:tcPr>
                </a:tc>
                <a:extLst>
                  <a:ext uri="{0D108BD9-81ED-4DB2-BD59-A6C34878D82A}">
                    <a16:rowId xmlns:a16="http://schemas.microsoft.com/office/drawing/2014/main" val="4077301944"/>
                  </a:ext>
                </a:extLst>
              </a:tr>
              <a:tr h="196850">
                <a:tc>
                  <a:txBody>
                    <a:bodyPr/>
                    <a:lstStyle/>
                    <a:p>
                      <a:pPr algn="l" fontAlgn="ctr">
                        <a:buNone/>
                      </a:pPr>
                      <a:r>
                        <a:rPr lang="en-US" sz="1200" b="1" i="0" u="none" strike="noStrike" dirty="0">
                          <a:solidFill>
                            <a:srgbClr val="000000"/>
                          </a:solidFill>
                          <a:effectLst/>
                          <a:latin typeface="Times New Roman" panose="02020603050405020304" pitchFamily="18" charset="0"/>
                        </a:rPr>
                        <a:t>Peak selection probability DO (mg L⁻¹)</a:t>
                      </a:r>
                    </a:p>
                  </a:txBody>
                  <a:tcPr marL="6350" marR="6350" marT="6350" marB="0" anchor="ctr">
                    <a:lnL>
                      <a:noFill/>
                    </a:lnL>
                    <a:lnR>
                      <a:noFill/>
                    </a:lnR>
                    <a:lnT>
                      <a:noFill/>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9.17 </a:t>
                      </a:r>
                    </a:p>
                  </a:txBody>
                  <a:tcPr marL="6350" marR="6350" marT="6350" marB="0" anchor="ctr">
                    <a:lnL>
                      <a:noFill/>
                    </a:lnL>
                    <a:lnR>
                      <a:noFill/>
                    </a:lnR>
                    <a:lnT>
                      <a:noFill/>
                    </a:lnT>
                    <a:lnB>
                      <a:noFill/>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2.52 </a:t>
                      </a:r>
                    </a:p>
                  </a:txBody>
                  <a:tcPr marL="6350" marR="6350" marT="6350" marB="0" anchor="ctr">
                    <a:lnL>
                      <a:noFill/>
                    </a:lnL>
                    <a:lnR>
                      <a:noFill/>
                    </a:lnR>
                    <a:lnT>
                      <a:noFill/>
                    </a:lnT>
                    <a:lnB>
                      <a:noFill/>
                    </a:lnB>
                    <a:noFill/>
                  </a:tcPr>
                </a:tc>
                <a:extLst>
                  <a:ext uri="{0D108BD9-81ED-4DB2-BD59-A6C34878D82A}">
                    <a16:rowId xmlns:a16="http://schemas.microsoft.com/office/drawing/2014/main" val="3817676214"/>
                  </a:ext>
                </a:extLst>
              </a:tr>
            </a:tbl>
          </a:graphicData>
        </a:graphic>
      </p:graphicFrame>
    </p:spTree>
    <p:extLst>
      <p:ext uri="{BB962C8B-B14F-4D97-AF65-F5344CB8AC3E}">
        <p14:creationId xmlns:p14="http://schemas.microsoft.com/office/powerpoint/2010/main" val="269938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graphs of different types of objects&#10;&#10;AI-generated content may be incorrect.">
            <a:extLst>
              <a:ext uri="{FF2B5EF4-FFF2-40B4-BE49-F238E27FC236}">
                <a16:creationId xmlns:a16="http://schemas.microsoft.com/office/drawing/2014/main" id="{94B2DE52-EAF6-D19E-2B6C-C4DD5D8C91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780" y="0"/>
            <a:ext cx="6096000" cy="6858000"/>
          </a:xfrm>
          <a:prstGeom prst="rect">
            <a:avLst/>
          </a:prstGeom>
        </p:spPr>
      </p:pic>
      <p:graphicFrame>
        <p:nvGraphicFramePr>
          <p:cNvPr id="2" name="Table 1">
            <a:extLst>
              <a:ext uri="{FF2B5EF4-FFF2-40B4-BE49-F238E27FC236}">
                <a16:creationId xmlns:a16="http://schemas.microsoft.com/office/drawing/2014/main" id="{3E6A299F-C46E-E2AF-B878-D3425FFBDEEA}"/>
              </a:ext>
            </a:extLst>
          </p:cNvPr>
          <p:cNvGraphicFramePr>
            <a:graphicFrameLocks noGrp="1"/>
          </p:cNvGraphicFramePr>
          <p:nvPr>
            <p:extLst>
              <p:ext uri="{D42A27DB-BD31-4B8C-83A1-F6EECF244321}">
                <p14:modId xmlns:p14="http://schemas.microsoft.com/office/powerpoint/2010/main" val="2221698679"/>
              </p:ext>
            </p:extLst>
          </p:nvPr>
        </p:nvGraphicFramePr>
        <p:xfrm>
          <a:off x="6654800" y="2451100"/>
          <a:ext cx="4921251" cy="977900"/>
        </p:xfrm>
        <a:graphic>
          <a:graphicData uri="http://schemas.openxmlformats.org/drawingml/2006/table">
            <a:tbl>
              <a:tblPr/>
              <a:tblGrid>
                <a:gridCol w="2892314">
                  <a:extLst>
                    <a:ext uri="{9D8B030D-6E8A-4147-A177-3AD203B41FA5}">
                      <a16:colId xmlns:a16="http://schemas.microsoft.com/office/drawing/2014/main" val="1959448787"/>
                    </a:ext>
                  </a:extLst>
                </a:gridCol>
                <a:gridCol w="955882">
                  <a:extLst>
                    <a:ext uri="{9D8B030D-6E8A-4147-A177-3AD203B41FA5}">
                      <a16:colId xmlns:a16="http://schemas.microsoft.com/office/drawing/2014/main" val="484710134"/>
                    </a:ext>
                  </a:extLst>
                </a:gridCol>
                <a:gridCol w="1073055">
                  <a:extLst>
                    <a:ext uri="{9D8B030D-6E8A-4147-A177-3AD203B41FA5}">
                      <a16:colId xmlns:a16="http://schemas.microsoft.com/office/drawing/2014/main" val="950895528"/>
                    </a:ext>
                  </a:extLst>
                </a:gridCol>
              </a:tblGrid>
              <a:tr h="190500">
                <a:tc>
                  <a:txBody>
                    <a:bodyPr/>
                    <a:lstStyle/>
                    <a:p>
                      <a:pPr algn="l" rtl="0" fontAlgn="ctr">
                        <a:buNone/>
                      </a:pPr>
                      <a:r>
                        <a:rPr lang="en-US" sz="1200" b="1" i="0" u="none" strike="noStrike" dirty="0">
                          <a:solidFill>
                            <a:srgbClr val="000000"/>
                          </a:solidFill>
                          <a:effectLst/>
                          <a:latin typeface="Times New Roman" panose="02020603050405020304" pitchFamily="18" charset="0"/>
                        </a:rPr>
                        <a:t>Variable</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rtl="0" fontAlgn="ctr">
                        <a:buNone/>
                      </a:pPr>
                      <a:r>
                        <a:rPr lang="en-US" sz="1200" b="1" i="0" u="none" strike="noStrike">
                          <a:solidFill>
                            <a:srgbClr val="000000"/>
                          </a:solidFill>
                          <a:effectLst/>
                          <a:latin typeface="Times New Roman" panose="02020603050405020304" pitchFamily="18" charset="0"/>
                        </a:rPr>
                        <a:t>DO-maxima</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rtl="0" fontAlgn="ctr">
                        <a:buNone/>
                      </a:pPr>
                      <a:r>
                        <a:rPr lang="en-US" sz="1200" b="1" i="0" u="none" strike="noStrike" dirty="0">
                          <a:solidFill>
                            <a:srgbClr val="000000"/>
                          </a:solidFill>
                          <a:effectLst/>
                          <a:latin typeface="Times New Roman" panose="02020603050405020304" pitchFamily="18" charset="0"/>
                        </a:rPr>
                        <a:t>DO-minima</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7906050"/>
                  </a:ext>
                </a:extLst>
              </a:tr>
              <a:tr h="196850">
                <a:tc>
                  <a:txBody>
                    <a:bodyPr/>
                    <a:lstStyle/>
                    <a:p>
                      <a:pPr algn="l" rtl="0" fontAlgn="ctr">
                        <a:buNone/>
                      </a:pPr>
                      <a:r>
                        <a:rPr lang="en-US" sz="1200" b="1" i="0" u="none" strike="noStrike" dirty="0">
                          <a:solidFill>
                            <a:srgbClr val="000000"/>
                          </a:solidFill>
                          <a:effectLst/>
                          <a:latin typeface="Times New Roman" panose="02020603050405020304" pitchFamily="18" charset="0"/>
                        </a:rPr>
                        <a:t>Available range temperature (°C)</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buNone/>
                      </a:pPr>
                      <a:r>
                        <a:rPr lang="en-US" sz="1100" b="0" i="0" u="none" strike="noStrike" dirty="0">
                          <a:solidFill>
                            <a:srgbClr val="000000"/>
                          </a:solidFill>
                          <a:effectLst/>
                          <a:latin typeface="Times New Roman" panose="02020603050405020304" pitchFamily="18" charset="0"/>
                        </a:rPr>
                        <a:t>12.38 - 23.79</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11.69 - 18.94</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87070370"/>
                  </a:ext>
                </a:extLst>
              </a:tr>
              <a:tr h="196850">
                <a:tc>
                  <a:txBody>
                    <a:bodyPr/>
                    <a:lstStyle/>
                    <a:p>
                      <a:pPr algn="l" rtl="0" fontAlgn="ctr">
                        <a:buNone/>
                      </a:pPr>
                      <a:r>
                        <a:rPr lang="fr-FR" sz="1200" b="1" i="0" u="none" strike="noStrike" dirty="0" err="1">
                          <a:solidFill>
                            <a:srgbClr val="000000"/>
                          </a:solidFill>
                          <a:effectLst/>
                          <a:latin typeface="Times New Roman" panose="02020603050405020304" pitchFamily="18" charset="0"/>
                        </a:rPr>
                        <a:t>Available</a:t>
                      </a:r>
                      <a:r>
                        <a:rPr lang="fr-FR" sz="1200" b="1" i="0" u="none" strike="noStrike" dirty="0">
                          <a:solidFill>
                            <a:srgbClr val="000000"/>
                          </a:solidFill>
                          <a:effectLst/>
                          <a:latin typeface="Times New Roman" panose="02020603050405020304" pitchFamily="18" charset="0"/>
                        </a:rPr>
                        <a:t> range (mg L⁻¹)</a:t>
                      </a:r>
                    </a:p>
                  </a:txBody>
                  <a:tcPr marL="6350" marR="6350" marT="6350" marB="0" anchor="ctr">
                    <a:lnL>
                      <a:noFill/>
                    </a:lnL>
                    <a:lnR>
                      <a:noFill/>
                    </a:lnR>
                    <a:lnT>
                      <a:noFill/>
                    </a:lnT>
                    <a:lnB>
                      <a:noFill/>
                    </a:lnB>
                    <a:noFill/>
                  </a:tcPr>
                </a:tc>
                <a:tc>
                  <a:txBody>
                    <a:bodyPr/>
                    <a:lstStyle/>
                    <a:p>
                      <a:pPr algn="l" rtl="0" fontAlgn="ctr">
                        <a:buNone/>
                      </a:pPr>
                      <a:r>
                        <a:rPr lang="en-US" sz="1200" b="0" i="0" u="none" strike="noStrike" dirty="0">
                          <a:solidFill>
                            <a:srgbClr val="000000"/>
                          </a:solidFill>
                          <a:effectLst/>
                          <a:latin typeface="Times New Roman" panose="02020603050405020304" pitchFamily="18" charset="0"/>
                        </a:rPr>
                        <a:t>3.50 - 9.52</a:t>
                      </a:r>
                    </a:p>
                  </a:txBody>
                  <a:tcPr marL="6350" marR="6350" marT="6350" marB="0" anchor="ctr">
                    <a:lnL>
                      <a:noFill/>
                    </a:lnL>
                    <a:lnR>
                      <a:noFill/>
                    </a:lnR>
                    <a:lnT>
                      <a:noFill/>
                    </a:lnT>
                    <a:lnB>
                      <a:noFill/>
                    </a:lnB>
                    <a:noFill/>
                  </a:tcPr>
                </a:tc>
                <a:tc>
                  <a:txBody>
                    <a:bodyPr/>
                    <a:lstStyle/>
                    <a:p>
                      <a:pPr algn="l" rtl="0" fontAlgn="ctr">
                        <a:buNone/>
                      </a:pPr>
                      <a:r>
                        <a:rPr lang="en-US" sz="1200" b="0" i="0" u="none" strike="noStrike" dirty="0">
                          <a:solidFill>
                            <a:srgbClr val="000000"/>
                          </a:solidFill>
                          <a:effectLst/>
                          <a:latin typeface="Times New Roman" panose="02020603050405020304" pitchFamily="18" charset="0"/>
                        </a:rPr>
                        <a:t>1.97 - 5.35</a:t>
                      </a:r>
                    </a:p>
                  </a:txBody>
                  <a:tcPr marL="6350" marR="6350" marT="6350" marB="0" anchor="ctr">
                    <a:lnL>
                      <a:noFill/>
                    </a:lnL>
                    <a:lnR>
                      <a:noFill/>
                    </a:lnR>
                    <a:lnT>
                      <a:noFill/>
                    </a:lnT>
                    <a:lnB>
                      <a:noFill/>
                    </a:lnB>
                    <a:noFill/>
                  </a:tcPr>
                </a:tc>
                <a:extLst>
                  <a:ext uri="{0D108BD9-81ED-4DB2-BD59-A6C34878D82A}">
                    <a16:rowId xmlns:a16="http://schemas.microsoft.com/office/drawing/2014/main" val="568965436"/>
                  </a:ext>
                </a:extLst>
              </a:tr>
              <a:tr h="196850">
                <a:tc>
                  <a:txBody>
                    <a:bodyPr/>
                    <a:lstStyle/>
                    <a:p>
                      <a:pPr algn="l" rtl="0" fontAlgn="ctr">
                        <a:buNone/>
                      </a:pPr>
                      <a:r>
                        <a:rPr lang="en-US" sz="1200" b="1" i="0" u="none" strike="noStrike">
                          <a:solidFill>
                            <a:srgbClr val="000000"/>
                          </a:solidFill>
                          <a:effectLst/>
                          <a:latin typeface="Times New Roman" panose="02020603050405020304" pitchFamily="18" charset="0"/>
                        </a:rPr>
                        <a:t>Peak selection probability temperature (°C)</a:t>
                      </a:r>
                    </a:p>
                  </a:txBody>
                  <a:tcPr marL="6350" marR="6350" marT="6350" marB="0" anchor="ctr">
                    <a:lnL>
                      <a:noFill/>
                    </a:lnL>
                    <a:lnR>
                      <a:noFill/>
                    </a:lnR>
                    <a:lnT>
                      <a:noFill/>
                    </a:lnT>
                    <a:lnB>
                      <a:noFill/>
                    </a:lnB>
                    <a:no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15</a:t>
                      </a:r>
                    </a:p>
                  </a:txBody>
                  <a:tcPr marL="6350" marR="6350" marT="6350" marB="0" anchor="ctr">
                    <a:lnL>
                      <a:noFill/>
                    </a:lnL>
                    <a:lnR>
                      <a:noFill/>
                    </a:lnR>
                    <a:lnT>
                      <a:noFill/>
                    </a:lnT>
                    <a:lnB>
                      <a:noFill/>
                    </a:lnB>
                    <a:no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13.78</a:t>
                      </a:r>
                    </a:p>
                  </a:txBody>
                  <a:tcPr marL="6350" marR="6350" marT="6350" marB="0" anchor="ctr">
                    <a:lnL>
                      <a:noFill/>
                    </a:lnL>
                    <a:lnR>
                      <a:noFill/>
                    </a:lnR>
                    <a:lnT>
                      <a:noFill/>
                    </a:lnT>
                    <a:lnB>
                      <a:noFill/>
                    </a:lnB>
                    <a:noFill/>
                  </a:tcPr>
                </a:tc>
                <a:extLst>
                  <a:ext uri="{0D108BD9-81ED-4DB2-BD59-A6C34878D82A}">
                    <a16:rowId xmlns:a16="http://schemas.microsoft.com/office/drawing/2014/main" val="4238067897"/>
                  </a:ext>
                </a:extLst>
              </a:tr>
              <a:tr h="196850">
                <a:tc>
                  <a:txBody>
                    <a:bodyPr/>
                    <a:lstStyle/>
                    <a:p>
                      <a:pPr algn="l" rtl="0" fontAlgn="ctr">
                        <a:buNone/>
                      </a:pPr>
                      <a:r>
                        <a:rPr lang="en-US" sz="1200" b="1" i="0" u="none" strike="noStrike">
                          <a:solidFill>
                            <a:srgbClr val="000000"/>
                          </a:solidFill>
                          <a:effectLst/>
                          <a:latin typeface="Times New Roman" panose="02020603050405020304" pitchFamily="18" charset="0"/>
                        </a:rPr>
                        <a:t>Peak selectionprobability DO (mg L⁻¹)</a:t>
                      </a:r>
                    </a:p>
                  </a:txBody>
                  <a:tcPr marL="6350" marR="6350" marT="6350" marB="0" anchor="ctr">
                    <a:lnL>
                      <a:noFill/>
                    </a:lnL>
                    <a:lnR>
                      <a:noFill/>
                    </a:lnR>
                    <a:lnT>
                      <a:noFill/>
                    </a:lnT>
                    <a:lnB>
                      <a:noFill/>
                    </a:lnB>
                    <a:noFill/>
                  </a:tcPr>
                </a:tc>
                <a:tc>
                  <a:txBody>
                    <a:bodyPr/>
                    <a:lstStyle/>
                    <a:p>
                      <a:pPr algn="l" fontAlgn="b">
                        <a:buNone/>
                      </a:pPr>
                      <a:r>
                        <a:rPr lang="en-US" sz="1100" b="0" i="0" u="none" strike="noStrike">
                          <a:solidFill>
                            <a:srgbClr val="000000"/>
                          </a:solidFill>
                          <a:effectLst/>
                          <a:latin typeface="Times New Roman" panose="02020603050405020304" pitchFamily="18" charset="0"/>
                        </a:rPr>
                        <a:t>5.48</a:t>
                      </a:r>
                    </a:p>
                  </a:txBody>
                  <a:tcPr marL="6350" marR="6350" marT="6350" marB="0" anchor="b">
                    <a:lnL>
                      <a:noFill/>
                    </a:lnL>
                    <a:lnR>
                      <a:noFill/>
                    </a:lnR>
                    <a:lnT>
                      <a:noFill/>
                    </a:lnT>
                    <a:lnB>
                      <a:noFill/>
                    </a:lnB>
                    <a:noFill/>
                  </a:tcPr>
                </a:tc>
                <a:tc>
                  <a:txBody>
                    <a:bodyPr/>
                    <a:lstStyle/>
                    <a:p>
                      <a:pPr algn="l" rtl="0" fontAlgn="ctr">
                        <a:buNone/>
                      </a:pPr>
                      <a:r>
                        <a:rPr lang="en-US" sz="1200" b="0" i="0" u="none" strike="noStrike" dirty="0">
                          <a:solidFill>
                            <a:srgbClr val="000000"/>
                          </a:solidFill>
                          <a:effectLst/>
                          <a:latin typeface="Times New Roman" panose="02020603050405020304" pitchFamily="18" charset="0"/>
                        </a:rPr>
                        <a:t>2.02</a:t>
                      </a:r>
                    </a:p>
                  </a:txBody>
                  <a:tcPr marL="6350" marR="6350" marT="6350" marB="0" anchor="ctr">
                    <a:lnL>
                      <a:noFill/>
                    </a:lnL>
                    <a:lnR>
                      <a:noFill/>
                    </a:lnR>
                    <a:lnT>
                      <a:noFill/>
                    </a:lnT>
                    <a:lnB>
                      <a:noFill/>
                    </a:lnB>
                    <a:noFill/>
                  </a:tcPr>
                </a:tc>
                <a:extLst>
                  <a:ext uri="{0D108BD9-81ED-4DB2-BD59-A6C34878D82A}">
                    <a16:rowId xmlns:a16="http://schemas.microsoft.com/office/drawing/2014/main" val="2720652390"/>
                  </a:ext>
                </a:extLst>
              </a:tr>
            </a:tbl>
          </a:graphicData>
        </a:graphic>
      </p:graphicFrame>
      <p:sp>
        <p:nvSpPr>
          <p:cNvPr id="7" name="Rectangle 6">
            <a:extLst>
              <a:ext uri="{FF2B5EF4-FFF2-40B4-BE49-F238E27FC236}">
                <a16:creationId xmlns:a16="http://schemas.microsoft.com/office/drawing/2014/main" id="{4D8EC894-4D26-4923-9109-0CC05DEFD326}"/>
              </a:ext>
            </a:extLst>
          </p:cNvPr>
          <p:cNvSpPr/>
          <p:nvPr/>
        </p:nvSpPr>
        <p:spPr>
          <a:xfrm>
            <a:off x="520700" y="3429000"/>
            <a:ext cx="622300" cy="3276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oup of graphs of different types of objects&#10;&#10;AI-generated content may be incorrect.">
            <a:extLst>
              <a:ext uri="{FF2B5EF4-FFF2-40B4-BE49-F238E27FC236}">
                <a16:creationId xmlns:a16="http://schemas.microsoft.com/office/drawing/2014/main" id="{277B074D-8FD6-E11E-06AF-318ED553C008}"/>
              </a:ext>
            </a:extLst>
          </p:cNvPr>
          <p:cNvPicPr>
            <a:picLocks noChangeAspect="1"/>
          </p:cNvPicPr>
          <p:nvPr/>
        </p:nvPicPr>
        <p:blipFill>
          <a:blip r:embed="rId3">
            <a:extLst>
              <a:ext uri="{28A0092B-C50C-407E-A947-70E740481C1C}">
                <a14:useLocalDpi xmlns:a14="http://schemas.microsoft.com/office/drawing/2010/main" val="0"/>
              </a:ext>
            </a:extLst>
          </a:blip>
          <a:srcRect l="3098" t="53136"/>
          <a:stretch>
            <a:fillRect/>
          </a:stretch>
        </p:blipFill>
        <p:spPr>
          <a:xfrm>
            <a:off x="773053" y="3638550"/>
            <a:ext cx="5907147" cy="3213904"/>
          </a:xfrm>
          <a:prstGeom prst="rect">
            <a:avLst/>
          </a:prstGeom>
        </p:spPr>
      </p:pic>
    </p:spTree>
    <p:extLst>
      <p:ext uri="{BB962C8B-B14F-4D97-AF65-F5344CB8AC3E}">
        <p14:creationId xmlns:p14="http://schemas.microsoft.com/office/powerpoint/2010/main" val="1488217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3C06B-3C92-88A2-F2F6-ABEE8E21CC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01644C-FEB2-BB0A-0D98-D7524E7AAC61}"/>
              </a:ext>
            </a:extLst>
          </p:cNvPr>
          <p:cNvSpPr txBox="1"/>
          <p:nvPr/>
        </p:nvSpPr>
        <p:spPr>
          <a:xfrm>
            <a:off x="1730056" y="1068779"/>
            <a:ext cx="224292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Norwood 08/01-08/04</a:t>
            </a:r>
          </a:p>
        </p:txBody>
      </p:sp>
      <p:sp>
        <p:nvSpPr>
          <p:cNvPr id="4" name="TextBox 3">
            <a:extLst>
              <a:ext uri="{FF2B5EF4-FFF2-40B4-BE49-F238E27FC236}">
                <a16:creationId xmlns:a16="http://schemas.microsoft.com/office/drawing/2014/main" id="{8896F4D8-C97A-4F7F-D18B-2A379733BCC5}"/>
              </a:ext>
            </a:extLst>
          </p:cNvPr>
          <p:cNvSpPr txBox="1"/>
          <p:nvPr/>
        </p:nvSpPr>
        <p:spPr>
          <a:xfrm>
            <a:off x="7798767" y="1069154"/>
            <a:ext cx="231345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Blue Ruin 08/01-08/04</a:t>
            </a:r>
          </a:p>
        </p:txBody>
      </p:sp>
      <p:graphicFrame>
        <p:nvGraphicFramePr>
          <p:cNvPr id="6" name="Table 5">
            <a:extLst>
              <a:ext uri="{FF2B5EF4-FFF2-40B4-BE49-F238E27FC236}">
                <a16:creationId xmlns:a16="http://schemas.microsoft.com/office/drawing/2014/main" id="{F22AB4BB-6FCB-E8AC-D854-3CCB2581D187}"/>
              </a:ext>
            </a:extLst>
          </p:cNvPr>
          <p:cNvGraphicFramePr>
            <a:graphicFrameLocks noGrp="1"/>
          </p:cNvGraphicFramePr>
          <p:nvPr>
            <p:extLst>
              <p:ext uri="{D42A27DB-BD31-4B8C-83A1-F6EECF244321}">
                <p14:modId xmlns:p14="http://schemas.microsoft.com/office/powerpoint/2010/main" val="3738874537"/>
              </p:ext>
            </p:extLst>
          </p:nvPr>
        </p:nvGraphicFramePr>
        <p:xfrm>
          <a:off x="743647" y="1956825"/>
          <a:ext cx="4215740" cy="1434021"/>
        </p:xfrm>
        <a:graphic>
          <a:graphicData uri="http://schemas.openxmlformats.org/drawingml/2006/table">
            <a:tbl>
              <a:tblPr/>
              <a:tblGrid>
                <a:gridCol w="1431662">
                  <a:extLst>
                    <a:ext uri="{9D8B030D-6E8A-4147-A177-3AD203B41FA5}">
                      <a16:colId xmlns:a16="http://schemas.microsoft.com/office/drawing/2014/main" val="3012926096"/>
                    </a:ext>
                  </a:extLst>
                </a:gridCol>
                <a:gridCol w="1378831">
                  <a:extLst>
                    <a:ext uri="{9D8B030D-6E8A-4147-A177-3AD203B41FA5}">
                      <a16:colId xmlns:a16="http://schemas.microsoft.com/office/drawing/2014/main" val="2812374575"/>
                    </a:ext>
                  </a:extLst>
                </a:gridCol>
                <a:gridCol w="1405247">
                  <a:extLst>
                    <a:ext uri="{9D8B030D-6E8A-4147-A177-3AD203B41FA5}">
                      <a16:colId xmlns:a16="http://schemas.microsoft.com/office/drawing/2014/main" val="2463895674"/>
                    </a:ext>
                  </a:extLst>
                </a:gridCol>
              </a:tblGrid>
              <a:tr h="184150">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Window</a:t>
                      </a:r>
                    </a:p>
                  </a:txBody>
                  <a:tcPr marL="6350" marR="6350" marT="6350" marB="0" anchor="b">
                    <a:lnL>
                      <a:noFill/>
                    </a:lnL>
                    <a:lnR>
                      <a:noFill/>
                    </a:lnR>
                    <a:lnT>
                      <a:noFill/>
                    </a:lnT>
                    <a:lnB>
                      <a:noFill/>
                    </a:lnB>
                    <a:noFill/>
                  </a:tcPr>
                </a:tc>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Model</a:t>
                      </a:r>
                    </a:p>
                  </a:txBody>
                  <a:tcPr marL="6350" marR="6350" marT="6350" marB="0" anchor="b">
                    <a:lnL>
                      <a:noFill/>
                    </a:lnL>
                    <a:lnR>
                      <a:noFill/>
                    </a:lnR>
                    <a:lnT>
                      <a:noFill/>
                    </a:lnT>
                    <a:lnB>
                      <a:noFill/>
                    </a:lnB>
                    <a:noFill/>
                  </a:tcPr>
                </a:tc>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AIC</a:t>
                      </a:r>
                    </a:p>
                  </a:txBody>
                  <a:tcPr marL="6350" marR="6350" marT="6350" marB="0" anchor="b">
                    <a:lnL>
                      <a:noFill/>
                    </a:lnL>
                    <a:lnR>
                      <a:noFill/>
                    </a:lnR>
                    <a:lnT>
                      <a:noFill/>
                    </a:lnT>
                    <a:lnB>
                      <a:noFill/>
                    </a:lnB>
                    <a:noFill/>
                  </a:tcPr>
                </a:tc>
                <a:extLst>
                  <a:ext uri="{0D108BD9-81ED-4DB2-BD59-A6C34878D82A}">
                    <a16:rowId xmlns:a16="http://schemas.microsoft.com/office/drawing/2014/main" val="735202254"/>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only</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337.1423</a:t>
                      </a:r>
                    </a:p>
                  </a:txBody>
                  <a:tcPr marL="6350" marR="6350" marT="6350" marB="0" anchor="b">
                    <a:lnL>
                      <a:noFill/>
                    </a:lnL>
                    <a:lnR>
                      <a:noFill/>
                    </a:lnR>
                    <a:lnT>
                      <a:noFill/>
                    </a:lnT>
                    <a:lnB>
                      <a:noFill/>
                    </a:lnB>
                    <a:noFill/>
                  </a:tcPr>
                </a:tc>
                <a:extLst>
                  <a:ext uri="{0D108BD9-81ED-4DB2-BD59-A6C34878D82A}">
                    <a16:rowId xmlns:a16="http://schemas.microsoft.com/office/drawing/2014/main" val="1322450143"/>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&amp; DO</a:t>
                      </a:r>
                    </a:p>
                  </a:txBody>
                  <a:tcPr marL="6350" marR="6350" marT="6350"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339.0852</a:t>
                      </a:r>
                    </a:p>
                  </a:txBody>
                  <a:tcPr marL="6350" marR="6350" marT="6350" marB="0" anchor="b">
                    <a:lnL>
                      <a:noFill/>
                    </a:lnL>
                    <a:lnR>
                      <a:noFill/>
                    </a:lnR>
                    <a:lnT>
                      <a:noFill/>
                    </a:lnT>
                    <a:lnB>
                      <a:noFill/>
                    </a:lnB>
                    <a:noFill/>
                  </a:tcPr>
                </a:tc>
                <a:extLst>
                  <a:ext uri="{0D108BD9-81ED-4DB2-BD59-A6C34878D82A}">
                    <a16:rowId xmlns:a16="http://schemas.microsoft.com/office/drawing/2014/main" val="97065896"/>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 only</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810.0345</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8621368"/>
                  </a:ext>
                </a:extLst>
              </a:tr>
              <a:tr h="184150">
                <a:tc>
                  <a:txBody>
                    <a:bodyPr/>
                    <a:lstStyle/>
                    <a:p>
                      <a:pPr algn="l" fontAlgn="b">
                        <a:lnSpc>
                          <a:spcPct val="200000"/>
                        </a:lnSpc>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lnSpc>
                          <a:spcPct val="200000"/>
                        </a:lnSpc>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&amp; DO</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lnSpc>
                          <a:spcPct val="200000"/>
                        </a:lnSpc>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658.3948</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62540255"/>
                  </a:ext>
                </a:extLst>
              </a:tr>
              <a:tr h="184150">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only</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670.3939</a:t>
                      </a:r>
                    </a:p>
                  </a:txBody>
                  <a:tcPr marL="6350" marR="6350" marT="6350" marB="0" anchor="b">
                    <a:lnL>
                      <a:noFill/>
                    </a:lnL>
                    <a:lnR>
                      <a:noFill/>
                    </a:lnR>
                    <a:lnT>
                      <a:noFill/>
                    </a:lnT>
                    <a:lnB>
                      <a:noFill/>
                    </a:lnB>
                    <a:noFill/>
                  </a:tcPr>
                </a:tc>
                <a:extLst>
                  <a:ext uri="{0D108BD9-81ED-4DB2-BD59-A6C34878D82A}">
                    <a16:rowId xmlns:a16="http://schemas.microsoft.com/office/drawing/2014/main" val="1621636565"/>
                  </a:ext>
                </a:extLst>
              </a:tr>
              <a:tr h="184150">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 only</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736.8786</a:t>
                      </a:r>
                    </a:p>
                  </a:txBody>
                  <a:tcPr marL="6350" marR="6350" marT="6350" marB="0" anchor="b">
                    <a:lnL>
                      <a:noFill/>
                    </a:lnL>
                    <a:lnR>
                      <a:noFill/>
                    </a:lnR>
                    <a:lnT>
                      <a:noFill/>
                    </a:lnT>
                    <a:lnB>
                      <a:noFill/>
                    </a:lnB>
                    <a:noFill/>
                  </a:tcPr>
                </a:tc>
                <a:extLst>
                  <a:ext uri="{0D108BD9-81ED-4DB2-BD59-A6C34878D82A}">
                    <a16:rowId xmlns:a16="http://schemas.microsoft.com/office/drawing/2014/main" val="451553099"/>
                  </a:ext>
                </a:extLst>
              </a:tr>
            </a:tbl>
          </a:graphicData>
        </a:graphic>
      </p:graphicFrame>
      <p:graphicFrame>
        <p:nvGraphicFramePr>
          <p:cNvPr id="7" name="Table 6">
            <a:extLst>
              <a:ext uri="{FF2B5EF4-FFF2-40B4-BE49-F238E27FC236}">
                <a16:creationId xmlns:a16="http://schemas.microsoft.com/office/drawing/2014/main" id="{1141138F-2B61-44E3-17D7-472D9F66A167}"/>
              </a:ext>
            </a:extLst>
          </p:cNvPr>
          <p:cNvGraphicFramePr>
            <a:graphicFrameLocks noGrp="1"/>
          </p:cNvGraphicFramePr>
          <p:nvPr>
            <p:extLst>
              <p:ext uri="{D42A27DB-BD31-4B8C-83A1-F6EECF244321}">
                <p14:modId xmlns:p14="http://schemas.microsoft.com/office/powerpoint/2010/main" val="34320226"/>
              </p:ext>
            </p:extLst>
          </p:nvPr>
        </p:nvGraphicFramePr>
        <p:xfrm>
          <a:off x="6959065" y="1956825"/>
          <a:ext cx="3992859" cy="1623251"/>
        </p:xfrm>
        <a:graphic>
          <a:graphicData uri="http://schemas.openxmlformats.org/drawingml/2006/table">
            <a:tbl>
              <a:tblPr/>
              <a:tblGrid>
                <a:gridCol w="1422511">
                  <a:extLst>
                    <a:ext uri="{9D8B030D-6E8A-4147-A177-3AD203B41FA5}">
                      <a16:colId xmlns:a16="http://schemas.microsoft.com/office/drawing/2014/main" val="1215512454"/>
                    </a:ext>
                  </a:extLst>
                </a:gridCol>
                <a:gridCol w="1397691">
                  <a:extLst>
                    <a:ext uri="{9D8B030D-6E8A-4147-A177-3AD203B41FA5}">
                      <a16:colId xmlns:a16="http://schemas.microsoft.com/office/drawing/2014/main" val="1131133527"/>
                    </a:ext>
                  </a:extLst>
                </a:gridCol>
                <a:gridCol w="1172657">
                  <a:extLst>
                    <a:ext uri="{9D8B030D-6E8A-4147-A177-3AD203B41FA5}">
                      <a16:colId xmlns:a16="http://schemas.microsoft.com/office/drawing/2014/main" val="3173957210"/>
                    </a:ext>
                  </a:extLst>
                </a:gridCol>
              </a:tblGrid>
              <a:tr h="184150">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Window</a:t>
                      </a:r>
                    </a:p>
                  </a:txBody>
                  <a:tcPr marL="6350" marR="6350" marT="6350" marB="0" anchor="b">
                    <a:lnL>
                      <a:noFill/>
                    </a:lnL>
                    <a:lnR>
                      <a:noFill/>
                    </a:lnR>
                    <a:lnT>
                      <a:noFill/>
                    </a:lnT>
                    <a:lnB>
                      <a:noFill/>
                    </a:lnB>
                    <a:noFill/>
                  </a:tcPr>
                </a:tc>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Model</a:t>
                      </a:r>
                    </a:p>
                  </a:txBody>
                  <a:tcPr marL="6350" marR="6350" marT="6350" marB="0" anchor="b">
                    <a:lnL>
                      <a:noFill/>
                    </a:lnL>
                    <a:lnR>
                      <a:noFill/>
                    </a:lnR>
                    <a:lnT>
                      <a:noFill/>
                    </a:lnT>
                    <a:lnB>
                      <a:noFill/>
                    </a:lnB>
                    <a:noFill/>
                  </a:tcPr>
                </a:tc>
                <a:tc>
                  <a:txBody>
                    <a:bodyPr/>
                    <a:lstStyle/>
                    <a:p>
                      <a:pPr algn="l"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AIC</a:t>
                      </a:r>
                    </a:p>
                  </a:txBody>
                  <a:tcPr marL="6350" marR="6350" marT="6350" marB="0" anchor="b">
                    <a:lnL>
                      <a:noFill/>
                    </a:lnL>
                    <a:lnR>
                      <a:noFill/>
                    </a:lnR>
                    <a:lnT>
                      <a:noFill/>
                    </a:lnT>
                    <a:lnB>
                      <a:noFill/>
                    </a:lnB>
                    <a:noFill/>
                  </a:tcPr>
                </a:tc>
                <a:extLst>
                  <a:ext uri="{0D108BD9-81ED-4DB2-BD59-A6C34878D82A}">
                    <a16:rowId xmlns:a16="http://schemas.microsoft.com/office/drawing/2014/main" val="2519313054"/>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&amp; DO</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1064.542</a:t>
                      </a:r>
                    </a:p>
                  </a:txBody>
                  <a:tcPr marL="6350" marR="6350" marT="6350" marB="0" anchor="b">
                    <a:lnL>
                      <a:noFill/>
                    </a:lnL>
                    <a:lnR>
                      <a:noFill/>
                    </a:lnR>
                    <a:lnT>
                      <a:noFill/>
                    </a:lnT>
                    <a:lnB>
                      <a:noFill/>
                    </a:lnB>
                    <a:noFill/>
                  </a:tcPr>
                </a:tc>
                <a:extLst>
                  <a:ext uri="{0D108BD9-81ED-4DB2-BD59-A6C34878D82A}">
                    <a16:rowId xmlns:a16="http://schemas.microsoft.com/office/drawing/2014/main" val="863670715"/>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Temperature only</a:t>
                      </a:r>
                    </a:p>
                  </a:txBody>
                  <a:tcPr marL="6350" marR="6350" marT="6350"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1202.181</a:t>
                      </a:r>
                    </a:p>
                  </a:txBody>
                  <a:tcPr marL="6350" marR="6350" marT="6350" marB="0" anchor="b">
                    <a:lnL>
                      <a:noFill/>
                    </a:lnL>
                    <a:lnR>
                      <a:noFill/>
                    </a:lnR>
                    <a:lnT>
                      <a:noFill/>
                    </a:lnT>
                    <a:lnB>
                      <a:noFill/>
                    </a:lnB>
                    <a:noFill/>
                  </a:tcPr>
                </a:tc>
                <a:extLst>
                  <a:ext uri="{0D108BD9-81ED-4DB2-BD59-A6C34878D82A}">
                    <a16:rowId xmlns:a16="http://schemas.microsoft.com/office/drawing/2014/main" val="2969085324"/>
                  </a:ext>
                </a:extLst>
              </a:tr>
              <a:tr h="184150">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DO-maxima (high)</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DO only</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1457.523</a:t>
                      </a:r>
                    </a:p>
                  </a:txBody>
                  <a:tcPr marL="6350" marR="6350" marT="6350" marB="0" anchor="b">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6271929"/>
                  </a:ext>
                </a:extLst>
              </a:tr>
              <a:tr h="184150">
                <a:tc>
                  <a:txBody>
                    <a:bodyPr/>
                    <a:lstStyle/>
                    <a:p>
                      <a:pPr algn="l" fontAlgn="b">
                        <a:lnSpc>
                          <a:spcPct val="200000"/>
                        </a:lnSpc>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lnSpc>
                          <a:spcPct val="200000"/>
                        </a:lnSpc>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&amp; DO</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lnSpc>
                          <a:spcPct val="200000"/>
                        </a:lnSpc>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1716.744</a:t>
                      </a:r>
                    </a:p>
                  </a:txBody>
                  <a:tcPr marL="6350" marR="6350" marT="6350"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81430041"/>
                  </a:ext>
                </a:extLst>
              </a:tr>
              <a:tr h="184150">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Temperature only</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1778.461</a:t>
                      </a:r>
                    </a:p>
                  </a:txBody>
                  <a:tcPr marL="6350" marR="6350" marT="6350" marB="0" anchor="b">
                    <a:lnL>
                      <a:noFill/>
                    </a:lnL>
                    <a:lnR>
                      <a:noFill/>
                    </a:lnR>
                    <a:lnT>
                      <a:noFill/>
                    </a:lnT>
                    <a:lnB>
                      <a:noFill/>
                    </a:lnB>
                    <a:noFill/>
                  </a:tcPr>
                </a:tc>
                <a:extLst>
                  <a:ext uri="{0D108BD9-81ED-4DB2-BD59-A6C34878D82A}">
                    <a16:rowId xmlns:a16="http://schemas.microsoft.com/office/drawing/2014/main" val="3047222560"/>
                  </a:ext>
                </a:extLst>
              </a:tr>
              <a:tr h="184150">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DO-minima (low)</a:t>
                      </a:r>
                    </a:p>
                  </a:txBody>
                  <a:tcPr marL="6350" marR="6350" marT="6350" marB="0" anchor="b">
                    <a:lnL>
                      <a:noFill/>
                    </a:lnL>
                    <a:lnR>
                      <a:noFill/>
                    </a:lnR>
                    <a:lnT>
                      <a:noFill/>
                    </a:lnT>
                    <a:lnB>
                      <a:noFill/>
                    </a:lnB>
                    <a:noFill/>
                  </a:tcPr>
                </a:tc>
                <a:tc>
                  <a:txBody>
                    <a:bodyPr/>
                    <a:lstStyle/>
                    <a:p>
                      <a:pPr algn="l"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DO only</a:t>
                      </a:r>
                    </a:p>
                  </a:txBody>
                  <a:tcPr marL="6350" marR="6350" marT="6350" marB="0" anchor="b">
                    <a:lnL>
                      <a:noFill/>
                    </a:lnL>
                    <a:lnR>
                      <a:noFill/>
                    </a:lnR>
                    <a:lnT>
                      <a:noFill/>
                    </a:lnT>
                    <a:lnB>
                      <a:noFill/>
                    </a:lnB>
                    <a:noFill/>
                  </a:tcPr>
                </a:tc>
                <a:tc>
                  <a:txBody>
                    <a:bodyPr/>
                    <a:lstStyle/>
                    <a:p>
                      <a:pPr algn="l"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1837.514</a:t>
                      </a:r>
                    </a:p>
                  </a:txBody>
                  <a:tcPr marL="6350" marR="6350" marT="6350" marB="0" anchor="b">
                    <a:lnL>
                      <a:noFill/>
                    </a:lnL>
                    <a:lnR>
                      <a:noFill/>
                    </a:lnR>
                    <a:lnT>
                      <a:noFill/>
                    </a:lnT>
                    <a:lnB>
                      <a:noFill/>
                    </a:lnB>
                    <a:noFill/>
                  </a:tcPr>
                </a:tc>
                <a:extLst>
                  <a:ext uri="{0D108BD9-81ED-4DB2-BD59-A6C34878D82A}">
                    <a16:rowId xmlns:a16="http://schemas.microsoft.com/office/drawing/2014/main" val="269970116"/>
                  </a:ext>
                </a:extLst>
              </a:tr>
              <a:tr h="184150">
                <a:tc>
                  <a:txBody>
                    <a:bodyPr/>
                    <a:lstStyle/>
                    <a:p>
                      <a:pPr algn="l" fontAlgn="b">
                        <a:buNone/>
                      </a:pP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a:noFill/>
                    </a:lnL>
                    <a:lnR>
                      <a:noFill/>
                    </a:lnR>
                    <a:lnT>
                      <a:noFill/>
                    </a:lnT>
                    <a:lnB>
                      <a:noFill/>
                    </a:lnB>
                    <a:noFill/>
                  </a:tcPr>
                </a:tc>
                <a:tc>
                  <a:txBody>
                    <a:bodyPr/>
                    <a:lstStyle/>
                    <a:p>
                      <a:pPr algn="l" fontAlgn="b">
                        <a:buNone/>
                      </a:pP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a:noFill/>
                    </a:lnL>
                    <a:lnR>
                      <a:noFill/>
                    </a:lnR>
                    <a:lnT>
                      <a:noFill/>
                    </a:lnT>
                    <a:lnB>
                      <a:noFill/>
                    </a:lnB>
                    <a:noFill/>
                  </a:tcPr>
                </a:tc>
                <a:tc>
                  <a:txBody>
                    <a:bodyPr/>
                    <a:lstStyle/>
                    <a:p>
                      <a:pPr algn="l" fontAlgn="b">
                        <a:buNone/>
                      </a:pP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a:noFill/>
                    </a:lnL>
                    <a:lnR>
                      <a:noFill/>
                    </a:lnR>
                    <a:lnT>
                      <a:noFill/>
                    </a:lnT>
                    <a:lnB>
                      <a:noFill/>
                    </a:lnB>
                    <a:noFill/>
                  </a:tcPr>
                </a:tc>
                <a:extLst>
                  <a:ext uri="{0D108BD9-81ED-4DB2-BD59-A6C34878D82A}">
                    <a16:rowId xmlns:a16="http://schemas.microsoft.com/office/drawing/2014/main" val="1598806799"/>
                  </a:ext>
                </a:extLst>
              </a:tr>
            </a:tbl>
          </a:graphicData>
        </a:graphic>
      </p:graphicFrame>
    </p:spTree>
    <p:extLst>
      <p:ext uri="{BB962C8B-B14F-4D97-AF65-F5344CB8AC3E}">
        <p14:creationId xmlns:p14="http://schemas.microsoft.com/office/powerpoint/2010/main" val="58633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05E8-BCEF-F092-84C1-B8B296A2E9C0}"/>
            </a:ext>
          </a:extLst>
        </p:cNvPr>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B7397B48-150D-8B3B-E496-82EEC6E73410}"/>
              </a:ext>
            </a:extLst>
          </p:cNvPr>
          <p:cNvPicPr>
            <a:picLocks noChangeAspect="1"/>
          </p:cNvPicPr>
          <p:nvPr/>
        </p:nvPicPr>
        <p:blipFill>
          <a:blip r:embed="rId3">
            <a:extLst>
              <a:ext uri="{28A0092B-C50C-407E-A947-70E740481C1C}">
                <a14:useLocalDpi xmlns:a14="http://schemas.microsoft.com/office/drawing/2010/main" val="0"/>
              </a:ext>
            </a:extLst>
          </a:blip>
          <a:srcRect t="5416"/>
          <a:stretch>
            <a:fillRect/>
          </a:stretch>
        </p:blipFill>
        <p:spPr>
          <a:xfrm>
            <a:off x="2127250" y="59000"/>
            <a:ext cx="7937500" cy="3753776"/>
          </a:xfrm>
          <a:prstGeom prst="rect">
            <a:avLst/>
          </a:prstGeom>
        </p:spPr>
      </p:pic>
      <p:pic>
        <p:nvPicPr>
          <p:cNvPr id="9" name="Picture 8" descr="A close-up of a graph&#10;&#10;AI-generated content may be incorrect.">
            <a:extLst>
              <a:ext uri="{FF2B5EF4-FFF2-40B4-BE49-F238E27FC236}">
                <a16:creationId xmlns:a16="http://schemas.microsoft.com/office/drawing/2014/main" id="{31D6863B-1EEF-8553-D74C-5251408F6FD1}"/>
              </a:ext>
            </a:extLst>
          </p:cNvPr>
          <p:cNvPicPr>
            <a:picLocks noChangeAspect="1"/>
          </p:cNvPicPr>
          <p:nvPr/>
        </p:nvPicPr>
        <p:blipFill>
          <a:blip r:embed="rId4">
            <a:extLst>
              <a:ext uri="{28A0092B-C50C-407E-A947-70E740481C1C}">
                <a14:useLocalDpi xmlns:a14="http://schemas.microsoft.com/office/drawing/2010/main" val="0"/>
              </a:ext>
            </a:extLst>
          </a:blip>
          <a:srcRect t="5416"/>
          <a:stretch>
            <a:fillRect/>
          </a:stretch>
        </p:blipFill>
        <p:spPr>
          <a:xfrm>
            <a:off x="2127250" y="3766476"/>
            <a:ext cx="7937500" cy="3753776"/>
          </a:xfrm>
          <a:prstGeom prst="rect">
            <a:avLst/>
          </a:prstGeom>
        </p:spPr>
      </p:pic>
      <p:sp>
        <p:nvSpPr>
          <p:cNvPr id="12" name="TextBox 11">
            <a:extLst>
              <a:ext uri="{FF2B5EF4-FFF2-40B4-BE49-F238E27FC236}">
                <a16:creationId xmlns:a16="http://schemas.microsoft.com/office/drawing/2014/main" id="{8BF5FAC0-6CF4-C836-7AE8-E34A6D73A7F6}"/>
              </a:ext>
            </a:extLst>
          </p:cNvPr>
          <p:cNvSpPr txBox="1"/>
          <p:nvPr/>
        </p:nvSpPr>
        <p:spPr>
          <a:xfrm>
            <a:off x="2489200" y="-187355"/>
            <a:ext cx="31290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a</a:t>
            </a:r>
          </a:p>
        </p:txBody>
      </p:sp>
      <p:sp>
        <p:nvSpPr>
          <p:cNvPr id="13" name="TextBox 12">
            <a:extLst>
              <a:ext uri="{FF2B5EF4-FFF2-40B4-BE49-F238E27FC236}">
                <a16:creationId xmlns:a16="http://schemas.microsoft.com/office/drawing/2014/main" id="{EC16F532-6CC5-F9D2-0867-E8926E3561E8}"/>
              </a:ext>
            </a:extLst>
          </p:cNvPr>
          <p:cNvSpPr txBox="1"/>
          <p:nvPr/>
        </p:nvSpPr>
        <p:spPr>
          <a:xfrm>
            <a:off x="6427633" y="-174655"/>
            <a:ext cx="32733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b</a:t>
            </a:r>
          </a:p>
        </p:txBody>
      </p:sp>
      <p:sp>
        <p:nvSpPr>
          <p:cNvPr id="14" name="TextBox 13">
            <a:extLst>
              <a:ext uri="{FF2B5EF4-FFF2-40B4-BE49-F238E27FC236}">
                <a16:creationId xmlns:a16="http://schemas.microsoft.com/office/drawing/2014/main" id="{1C394B09-B9A2-64D6-8149-008AF3ACC747}"/>
              </a:ext>
            </a:extLst>
          </p:cNvPr>
          <p:cNvSpPr txBox="1"/>
          <p:nvPr/>
        </p:nvSpPr>
        <p:spPr>
          <a:xfrm>
            <a:off x="2490633" y="3432145"/>
            <a:ext cx="298480"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c</a:t>
            </a:r>
          </a:p>
        </p:txBody>
      </p:sp>
      <p:sp>
        <p:nvSpPr>
          <p:cNvPr id="15" name="TextBox 14">
            <a:extLst>
              <a:ext uri="{FF2B5EF4-FFF2-40B4-BE49-F238E27FC236}">
                <a16:creationId xmlns:a16="http://schemas.microsoft.com/office/drawing/2014/main" id="{CCAD761B-F20F-C89B-A04C-0AFFEB27E7D3}"/>
              </a:ext>
            </a:extLst>
          </p:cNvPr>
          <p:cNvSpPr txBox="1"/>
          <p:nvPr/>
        </p:nvSpPr>
        <p:spPr>
          <a:xfrm>
            <a:off x="6440333" y="3419445"/>
            <a:ext cx="32733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d</a:t>
            </a:r>
          </a:p>
        </p:txBody>
      </p:sp>
    </p:spTree>
    <p:extLst>
      <p:ext uri="{BB962C8B-B14F-4D97-AF65-F5344CB8AC3E}">
        <p14:creationId xmlns:p14="http://schemas.microsoft.com/office/powerpoint/2010/main" val="190412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C6559E51-9CD5-A427-4978-4516E0227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 y="411480"/>
            <a:ext cx="6035040" cy="3017520"/>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A612A262-247D-44BC-B301-9FA803EA6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11480"/>
            <a:ext cx="6035040" cy="3017520"/>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B161AA99-5136-DF03-EFCF-B018C6E65E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 y="3429000"/>
            <a:ext cx="6035040" cy="3017520"/>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1C5E861E-4238-1392-3DF0-D66FC1A6BC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429000"/>
            <a:ext cx="6035040" cy="3017520"/>
          </a:xfrm>
          <a:prstGeom prst="rect">
            <a:avLst/>
          </a:prstGeom>
        </p:spPr>
      </p:pic>
      <p:sp>
        <p:nvSpPr>
          <p:cNvPr id="16" name="TextBox 15">
            <a:extLst>
              <a:ext uri="{FF2B5EF4-FFF2-40B4-BE49-F238E27FC236}">
                <a16:creationId xmlns:a16="http://schemas.microsoft.com/office/drawing/2014/main" id="{10AE6B97-F726-D077-37B5-61763796639C}"/>
              </a:ext>
            </a:extLst>
          </p:cNvPr>
          <p:cNvSpPr txBox="1"/>
          <p:nvPr/>
        </p:nvSpPr>
        <p:spPr>
          <a:xfrm>
            <a:off x="6276666" y="3409890"/>
            <a:ext cx="32733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d</a:t>
            </a:r>
          </a:p>
        </p:txBody>
      </p:sp>
    </p:spTree>
    <p:extLst>
      <p:ext uri="{BB962C8B-B14F-4D97-AF65-F5344CB8AC3E}">
        <p14:creationId xmlns:p14="http://schemas.microsoft.com/office/powerpoint/2010/main" val="80748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8914432F-8C97-522E-FAD2-5ACFEE77C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75" y="392575"/>
            <a:ext cx="6035040" cy="3017520"/>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840B49D5-3750-54A6-17EB-3C1CD61557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98266"/>
            <a:ext cx="6035040" cy="3017520"/>
          </a:xfrm>
          <a:prstGeom prst="rect">
            <a:avLst/>
          </a:prstGeom>
        </p:spPr>
      </p:pic>
      <p:pic>
        <p:nvPicPr>
          <p:cNvPr id="8" name="Picture 7" descr="A screenshot of a graph&#10;&#10;AI-generated content may be incorrect.">
            <a:extLst>
              <a:ext uri="{FF2B5EF4-FFF2-40B4-BE49-F238E27FC236}">
                <a16:creationId xmlns:a16="http://schemas.microsoft.com/office/drawing/2014/main" id="{0DE84A88-DB11-6CB7-F618-6442BD35C0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 y="3429000"/>
            <a:ext cx="6035040" cy="3017520"/>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AF071A6A-E584-F5B0-A9E2-DA48C0960F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429000"/>
            <a:ext cx="6035040" cy="3017520"/>
          </a:xfrm>
          <a:prstGeom prst="rect">
            <a:avLst/>
          </a:prstGeom>
        </p:spPr>
      </p:pic>
    </p:spTree>
    <p:extLst>
      <p:ext uri="{BB962C8B-B14F-4D97-AF65-F5344CB8AC3E}">
        <p14:creationId xmlns:p14="http://schemas.microsoft.com/office/powerpoint/2010/main" val="1591926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several waves&#10;&#10;AI-generated content may be incorrect.">
            <a:extLst>
              <a:ext uri="{FF2B5EF4-FFF2-40B4-BE49-F238E27FC236}">
                <a16:creationId xmlns:a16="http://schemas.microsoft.com/office/drawing/2014/main" id="{8B109B7C-FF34-893D-8BC2-80C86BF126BE}"/>
              </a:ext>
            </a:extLst>
          </p:cNvPr>
          <p:cNvPicPr>
            <a:picLocks noChangeAspect="1"/>
          </p:cNvPicPr>
          <p:nvPr/>
        </p:nvPicPr>
        <p:blipFill>
          <a:blip r:embed="rId3">
            <a:extLst>
              <a:ext uri="{28A0092B-C50C-407E-A947-70E740481C1C}">
                <a14:useLocalDpi xmlns:a14="http://schemas.microsoft.com/office/drawing/2010/main" val="0"/>
              </a:ext>
            </a:extLst>
          </a:blip>
          <a:srcRect b="31870"/>
          <a:stretch>
            <a:fillRect/>
          </a:stretch>
        </p:blipFill>
        <p:spPr>
          <a:xfrm>
            <a:off x="249974" y="356840"/>
            <a:ext cx="7095328" cy="3222702"/>
          </a:xfrm>
          <a:prstGeom prst="rect">
            <a:avLst/>
          </a:prstGeom>
        </p:spPr>
      </p:pic>
      <p:pic>
        <p:nvPicPr>
          <p:cNvPr id="5" name="Picture 4" descr="A close-up of several waves&#10;&#10;AI-generated content may be incorrect.">
            <a:extLst>
              <a:ext uri="{FF2B5EF4-FFF2-40B4-BE49-F238E27FC236}">
                <a16:creationId xmlns:a16="http://schemas.microsoft.com/office/drawing/2014/main" id="{A724BAF7-5041-3327-DA15-C83E97AFD27A}"/>
              </a:ext>
            </a:extLst>
          </p:cNvPr>
          <p:cNvPicPr>
            <a:picLocks noChangeAspect="1"/>
          </p:cNvPicPr>
          <p:nvPr/>
        </p:nvPicPr>
        <p:blipFill>
          <a:blip r:embed="rId4">
            <a:extLst>
              <a:ext uri="{28A0092B-C50C-407E-A947-70E740481C1C}">
                <a14:useLocalDpi xmlns:a14="http://schemas.microsoft.com/office/drawing/2010/main" val="0"/>
              </a:ext>
            </a:extLst>
          </a:blip>
          <a:srcRect b="33008"/>
          <a:stretch>
            <a:fillRect/>
          </a:stretch>
        </p:blipFill>
        <p:spPr>
          <a:xfrm>
            <a:off x="3756932" y="3652779"/>
            <a:ext cx="7176739" cy="3205221"/>
          </a:xfrm>
          <a:prstGeom prst="rect">
            <a:avLst/>
          </a:prstGeom>
        </p:spPr>
      </p:pic>
    </p:spTree>
    <p:extLst>
      <p:ext uri="{BB962C8B-B14F-4D97-AF65-F5344CB8AC3E}">
        <p14:creationId xmlns:p14="http://schemas.microsoft.com/office/powerpoint/2010/main" val="701087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several waves&#10;&#10;AI-generated content may be incorrect.">
            <a:extLst>
              <a:ext uri="{FF2B5EF4-FFF2-40B4-BE49-F238E27FC236}">
                <a16:creationId xmlns:a16="http://schemas.microsoft.com/office/drawing/2014/main" id="{1173F685-DEEC-F256-E489-394F9FDBEEB6}"/>
              </a:ext>
            </a:extLst>
          </p:cNvPr>
          <p:cNvPicPr>
            <a:picLocks noChangeAspect="1"/>
          </p:cNvPicPr>
          <p:nvPr/>
        </p:nvPicPr>
        <p:blipFill>
          <a:blip r:embed="rId3">
            <a:extLst>
              <a:ext uri="{28A0092B-C50C-407E-A947-70E740481C1C}">
                <a14:useLocalDpi xmlns:a14="http://schemas.microsoft.com/office/drawing/2010/main" val="0"/>
              </a:ext>
            </a:extLst>
          </a:blip>
          <a:srcRect b="32683"/>
          <a:stretch>
            <a:fillRect/>
          </a:stretch>
        </p:blipFill>
        <p:spPr>
          <a:xfrm>
            <a:off x="6096000" y="3741234"/>
            <a:ext cx="5660173" cy="2540175"/>
          </a:xfrm>
          <a:prstGeom prst="rect">
            <a:avLst/>
          </a:prstGeom>
        </p:spPr>
      </p:pic>
      <p:pic>
        <p:nvPicPr>
          <p:cNvPr id="5" name="Picture 4" descr="A close-up of several different types of sound waves&#10;&#10;AI-generated content may be incorrect.">
            <a:extLst>
              <a:ext uri="{FF2B5EF4-FFF2-40B4-BE49-F238E27FC236}">
                <a16:creationId xmlns:a16="http://schemas.microsoft.com/office/drawing/2014/main" id="{6AF0F9D0-5B15-4C46-7288-6854BDFB3E8B}"/>
              </a:ext>
            </a:extLst>
          </p:cNvPr>
          <p:cNvPicPr>
            <a:picLocks noChangeAspect="1"/>
          </p:cNvPicPr>
          <p:nvPr/>
        </p:nvPicPr>
        <p:blipFill>
          <a:blip r:embed="rId4">
            <a:extLst>
              <a:ext uri="{28A0092B-C50C-407E-A947-70E740481C1C}">
                <a14:useLocalDpi xmlns:a14="http://schemas.microsoft.com/office/drawing/2010/main" val="0"/>
              </a:ext>
            </a:extLst>
          </a:blip>
          <a:srcRect b="33496"/>
          <a:stretch>
            <a:fillRect/>
          </a:stretch>
        </p:blipFill>
        <p:spPr>
          <a:xfrm>
            <a:off x="194217" y="300302"/>
            <a:ext cx="5660173" cy="2509497"/>
          </a:xfrm>
          <a:prstGeom prst="rect">
            <a:avLst/>
          </a:prstGeom>
        </p:spPr>
      </p:pic>
      <p:pic>
        <p:nvPicPr>
          <p:cNvPr id="7" name="Picture 6" descr="A close-up of several waves&#10;&#10;AI-generated content may be incorrect.">
            <a:extLst>
              <a:ext uri="{FF2B5EF4-FFF2-40B4-BE49-F238E27FC236}">
                <a16:creationId xmlns:a16="http://schemas.microsoft.com/office/drawing/2014/main" id="{CD734971-041F-4D32-477D-613DCB603DC8}"/>
              </a:ext>
            </a:extLst>
          </p:cNvPr>
          <p:cNvPicPr>
            <a:picLocks noChangeAspect="1"/>
          </p:cNvPicPr>
          <p:nvPr/>
        </p:nvPicPr>
        <p:blipFill>
          <a:blip r:embed="rId5">
            <a:extLst>
              <a:ext uri="{28A0092B-C50C-407E-A947-70E740481C1C}">
                <a14:useLocalDpi xmlns:a14="http://schemas.microsoft.com/office/drawing/2010/main" val="0"/>
              </a:ext>
            </a:extLst>
          </a:blip>
          <a:srcRect b="32845"/>
          <a:stretch>
            <a:fillRect/>
          </a:stretch>
        </p:blipFill>
        <p:spPr>
          <a:xfrm>
            <a:off x="6096000" y="300302"/>
            <a:ext cx="5660173" cy="2534040"/>
          </a:xfrm>
          <a:prstGeom prst="rect">
            <a:avLst/>
          </a:prstGeom>
        </p:spPr>
      </p:pic>
      <p:pic>
        <p:nvPicPr>
          <p:cNvPr id="10" name="Picture 9" descr="A close-up of a graph&#10;&#10;AI-generated content may be incorrect.">
            <a:extLst>
              <a:ext uri="{FF2B5EF4-FFF2-40B4-BE49-F238E27FC236}">
                <a16:creationId xmlns:a16="http://schemas.microsoft.com/office/drawing/2014/main" id="{EB46BC29-84EB-9C89-E80C-D5281A498938}"/>
              </a:ext>
            </a:extLst>
          </p:cNvPr>
          <p:cNvPicPr>
            <a:picLocks noChangeAspect="1"/>
          </p:cNvPicPr>
          <p:nvPr/>
        </p:nvPicPr>
        <p:blipFill>
          <a:blip r:embed="rId6">
            <a:extLst>
              <a:ext uri="{28A0092B-C50C-407E-A947-70E740481C1C}">
                <a14:useLocalDpi xmlns:a14="http://schemas.microsoft.com/office/drawing/2010/main" val="0"/>
              </a:ext>
            </a:extLst>
          </a:blip>
          <a:srcRect b="32195"/>
          <a:stretch>
            <a:fillRect/>
          </a:stretch>
        </p:blipFill>
        <p:spPr>
          <a:xfrm>
            <a:off x="417240" y="3741234"/>
            <a:ext cx="5437150" cy="2457769"/>
          </a:xfrm>
          <a:prstGeom prst="rect">
            <a:avLst/>
          </a:prstGeom>
        </p:spPr>
      </p:pic>
    </p:spTree>
    <p:extLst>
      <p:ext uri="{BB962C8B-B14F-4D97-AF65-F5344CB8AC3E}">
        <p14:creationId xmlns:p14="http://schemas.microsoft.com/office/powerpoint/2010/main" val="33663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011AD5-926F-16AF-BE33-C7DB4414667C}"/>
              </a:ext>
            </a:extLst>
          </p:cNvPr>
          <p:cNvSpPr txBox="1"/>
          <p:nvPr/>
        </p:nvSpPr>
        <p:spPr>
          <a:xfrm>
            <a:off x="368300" y="177800"/>
            <a:ext cx="10541000" cy="4247317"/>
          </a:xfrm>
          <a:prstGeom prst="rect">
            <a:avLst/>
          </a:prstGeom>
          <a:noFill/>
        </p:spPr>
        <p:txBody>
          <a:bodyPr wrap="square" rtlCol="0">
            <a:spAutoFit/>
          </a:bodyPr>
          <a:lstStyle/>
          <a:p>
            <a:r>
              <a:rPr lang="en-US" dirty="0"/>
              <a:t>It seems like Norwood fish are tracking preferred temps whereas BR fish are showing a lagged response to changing conditions – for both however their absolute minimum and maximum depths are not perfectly aligned with the 2-hour windows we assigned as the DO-minima and DO-maxima. We can either leave the GAM analysis as is (see slide 1) and talk about how Norwood fish display more of what we anticipated, whereas Blue Ruin fish during DO-minima have varied responses in their temperature selection likely because DO is quite low throughout the water column (resulting in wacky selection probability and relatively low values on y-axis since they have such varied responses). Other option would be to determine what timestamp represented the absolute min/max depth for each fish for each day (remember point plot below), then average across fish/days per habitat to </a:t>
            </a:r>
          </a:p>
          <a:p>
            <a:r>
              <a:rPr lang="en-US" dirty="0"/>
              <a:t>come up with the ‘average’ time where they were at their min/max </a:t>
            </a:r>
          </a:p>
          <a:p>
            <a:r>
              <a:rPr lang="en-US" dirty="0"/>
              <a:t>depths, then re-run the analysis  looking at that window</a:t>
            </a:r>
          </a:p>
          <a:p>
            <a:r>
              <a:rPr lang="en-US" dirty="0"/>
              <a:t>(keep 2-hr window or reduce window  to 1-hour or something) – NOTE </a:t>
            </a:r>
          </a:p>
          <a:p>
            <a:r>
              <a:rPr lang="en-US" dirty="0"/>
              <a:t>I redid the analysis doing the above and it didn’t improve anything,</a:t>
            </a:r>
          </a:p>
          <a:p>
            <a:r>
              <a:rPr lang="en-US" dirty="0"/>
              <a:t>I think we should move forward with models shown on slide 1 &amp; 2,</a:t>
            </a:r>
          </a:p>
          <a:p>
            <a:r>
              <a:rPr lang="en-US" dirty="0"/>
              <a:t>Also have individual models per day we can check out.</a:t>
            </a:r>
          </a:p>
        </p:txBody>
      </p:sp>
      <p:pic>
        <p:nvPicPr>
          <p:cNvPr id="4" name="Picture 3" descr="A graph of different colored lines&#10;&#10;AI-generated content may be incorrect.">
            <a:extLst>
              <a:ext uri="{FF2B5EF4-FFF2-40B4-BE49-F238E27FC236}">
                <a16:creationId xmlns:a16="http://schemas.microsoft.com/office/drawing/2014/main" id="{B00E3A2C-8874-A4E1-3987-81A04F668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0676" y="2880267"/>
            <a:ext cx="4971324" cy="3977733"/>
          </a:xfrm>
          <a:prstGeom prst="rect">
            <a:avLst/>
          </a:prstGeom>
        </p:spPr>
      </p:pic>
    </p:spTree>
    <p:extLst>
      <p:ext uri="{BB962C8B-B14F-4D97-AF65-F5344CB8AC3E}">
        <p14:creationId xmlns:p14="http://schemas.microsoft.com/office/powerpoint/2010/main" val="3029672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2225</TotalTime>
  <Words>757</Words>
  <Application>Microsoft Office PowerPoint</Application>
  <PresentationFormat>Widescreen</PresentationFormat>
  <Paragraphs>110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Barrett, Hannah</dc:creator>
  <cp:lastModifiedBy>Barrett, Hannah</cp:lastModifiedBy>
  <cp:revision>21</cp:revision>
  <dcterms:created xsi:type="dcterms:W3CDTF">2025-10-03T20:08:35Z</dcterms:created>
  <dcterms:modified xsi:type="dcterms:W3CDTF">2025-10-30T04:28:53Z</dcterms:modified>
</cp:coreProperties>
</file>