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59" r:id="rId4"/>
    <p:sldId id="260" r:id="rId5"/>
    <p:sldId id="262" r:id="rId6"/>
    <p:sldId id="263"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6" autoAdjust="0"/>
    <p:restoredTop sz="68950" autoAdjust="0"/>
  </p:normalViewPr>
  <p:slideViewPr>
    <p:cSldViewPr snapToGrid="0">
      <p:cViewPr varScale="1">
        <p:scale>
          <a:sx n="58" d="100"/>
          <a:sy n="58" d="100"/>
        </p:scale>
        <p:origin x="157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A9602B-1342-4F74-AD9C-93304FBC875F}" type="datetimeFigureOut">
              <a:rPr lang="en-US" smtClean="0"/>
              <a:t>5/17/2023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E231D-B719-4D41-923E-CE2A1F747C4B}" type="slidenum">
              <a:rPr lang="en-US" smtClean="0"/>
              <a:t>‹#›</a:t>
            </a:fld>
            <a:endParaRPr lang="en-US"/>
          </a:p>
        </p:txBody>
      </p:sp>
    </p:spTree>
    <p:extLst>
      <p:ext uri="{BB962C8B-B14F-4D97-AF65-F5344CB8AC3E}">
        <p14:creationId xmlns:p14="http://schemas.microsoft.com/office/powerpoint/2010/main" val="1575887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Increase font size, match axis label ticks (A is BR, B is NOR),</a:t>
            </a:r>
            <a:r>
              <a:rPr lang="en-US" baseline="0" dirty="0" smtClean="0"/>
              <a:t> how to differentiate temperature and oxygen – bracket with label or box with slight shading?</a:t>
            </a:r>
            <a:endParaRPr lang="en-US" dirty="0"/>
          </a:p>
        </p:txBody>
      </p:sp>
      <p:sp>
        <p:nvSpPr>
          <p:cNvPr id="4" name="Slide Number Placeholder 3"/>
          <p:cNvSpPr>
            <a:spLocks noGrp="1"/>
          </p:cNvSpPr>
          <p:nvPr>
            <p:ph type="sldNum" sz="quarter" idx="10"/>
          </p:nvPr>
        </p:nvSpPr>
        <p:spPr/>
        <p:txBody>
          <a:bodyPr/>
          <a:lstStyle/>
          <a:p>
            <a:fld id="{8B5E231D-B719-4D41-923E-CE2A1F747C4B}" type="slidenum">
              <a:rPr lang="en-US" smtClean="0"/>
              <a:t>1</a:t>
            </a:fld>
            <a:endParaRPr lang="en-US"/>
          </a:p>
        </p:txBody>
      </p:sp>
    </p:spTree>
    <p:extLst>
      <p:ext uri="{BB962C8B-B14F-4D97-AF65-F5344CB8AC3E}">
        <p14:creationId xmlns:p14="http://schemas.microsoft.com/office/powerpoint/2010/main" val="1567786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Increase font size, match axis label ticks (A is BR, B is NOR),</a:t>
            </a:r>
            <a:r>
              <a:rPr lang="en-US" baseline="0" dirty="0" smtClean="0"/>
              <a:t> how to differentiate temperature and oxygen – bracket with label or box with slight shading?</a:t>
            </a:r>
            <a:endParaRPr lang="en-US" dirty="0"/>
          </a:p>
        </p:txBody>
      </p:sp>
      <p:sp>
        <p:nvSpPr>
          <p:cNvPr id="4" name="Slide Number Placeholder 3"/>
          <p:cNvSpPr>
            <a:spLocks noGrp="1"/>
          </p:cNvSpPr>
          <p:nvPr>
            <p:ph type="sldNum" sz="quarter" idx="10"/>
          </p:nvPr>
        </p:nvSpPr>
        <p:spPr/>
        <p:txBody>
          <a:bodyPr/>
          <a:lstStyle/>
          <a:p>
            <a:fld id="{8B5E231D-B719-4D41-923E-CE2A1F747C4B}" type="slidenum">
              <a:rPr lang="en-US" smtClean="0"/>
              <a:t>2</a:t>
            </a:fld>
            <a:endParaRPr lang="en-US"/>
          </a:p>
        </p:txBody>
      </p:sp>
    </p:spTree>
    <p:extLst>
      <p:ext uri="{BB962C8B-B14F-4D97-AF65-F5344CB8AC3E}">
        <p14:creationId xmlns:p14="http://schemas.microsoft.com/office/powerpoint/2010/main" val="3420292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5E231D-B719-4D41-923E-CE2A1F747C4B}" type="slidenum">
              <a:rPr lang="en-US" smtClean="0"/>
              <a:t>3</a:t>
            </a:fld>
            <a:endParaRPr lang="en-US"/>
          </a:p>
        </p:txBody>
      </p:sp>
    </p:spTree>
    <p:extLst>
      <p:ext uri="{BB962C8B-B14F-4D97-AF65-F5344CB8AC3E}">
        <p14:creationId xmlns:p14="http://schemas.microsoft.com/office/powerpoint/2010/main" val="2928558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Is smoothed fit just for BR fish? If so fourth panel could be smoothed fit</a:t>
            </a:r>
            <a:r>
              <a:rPr lang="en-US" baseline="0" dirty="0" smtClean="0"/>
              <a:t> for NOR fish (remove fish pic</a:t>
            </a:r>
            <a:r>
              <a:rPr lang="en-US" baseline="0" dirty="0" smtClean="0"/>
              <a:t>) – do separate and joined fits to see</a:t>
            </a:r>
            <a:endParaRPr lang="en-US" dirty="0"/>
          </a:p>
        </p:txBody>
      </p:sp>
      <p:sp>
        <p:nvSpPr>
          <p:cNvPr id="4" name="Slide Number Placeholder 3"/>
          <p:cNvSpPr>
            <a:spLocks noGrp="1"/>
          </p:cNvSpPr>
          <p:nvPr>
            <p:ph type="sldNum" sz="quarter" idx="10"/>
          </p:nvPr>
        </p:nvSpPr>
        <p:spPr/>
        <p:txBody>
          <a:bodyPr/>
          <a:lstStyle/>
          <a:p>
            <a:fld id="{8B5E231D-B719-4D41-923E-CE2A1F747C4B}" type="slidenum">
              <a:rPr lang="en-US" smtClean="0"/>
              <a:t>4</a:t>
            </a:fld>
            <a:endParaRPr lang="en-US"/>
          </a:p>
        </p:txBody>
      </p:sp>
    </p:spTree>
    <p:extLst>
      <p:ext uri="{BB962C8B-B14F-4D97-AF65-F5344CB8AC3E}">
        <p14:creationId xmlns:p14="http://schemas.microsoft.com/office/powerpoint/2010/main" val="830869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modeled selection probability – contours</a:t>
            </a:r>
            <a:r>
              <a:rPr lang="en-US" baseline="0" dirty="0" smtClean="0"/>
              <a:t> with values greater than 0 (or warmer colors) represent increasing probability of selection. This probability space will predict beyond the bounds of observed data, so I have cut off the margins so we are just looking at the space that is representative of the data. We can see that the warmest colors/highest probability of selection is in areas of low temp high do</a:t>
            </a:r>
            <a:endParaRPr lang="en-US" dirty="0"/>
          </a:p>
        </p:txBody>
      </p:sp>
      <p:sp>
        <p:nvSpPr>
          <p:cNvPr id="4" name="Slide Number Placeholder 3"/>
          <p:cNvSpPr>
            <a:spLocks noGrp="1"/>
          </p:cNvSpPr>
          <p:nvPr>
            <p:ph type="sldNum" sz="quarter" idx="10"/>
          </p:nvPr>
        </p:nvSpPr>
        <p:spPr/>
        <p:txBody>
          <a:bodyPr/>
          <a:lstStyle/>
          <a:p>
            <a:fld id="{47619D6C-8E9C-47F1-B852-51CC63B9B10A}" type="slidenum">
              <a:rPr lang="en-US" smtClean="0"/>
              <a:t>5</a:t>
            </a:fld>
            <a:endParaRPr lang="en-US"/>
          </a:p>
        </p:txBody>
      </p:sp>
    </p:spTree>
    <p:extLst>
      <p:ext uri="{BB962C8B-B14F-4D97-AF65-F5344CB8AC3E}">
        <p14:creationId xmlns:p14="http://schemas.microsoft.com/office/powerpoint/2010/main" val="946417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Now looking at the selection</a:t>
            </a:r>
            <a:r>
              <a:rPr lang="en-US" baseline="0" dirty="0" smtClean="0"/>
              <a:t> probability we can see that the highest probability of selection is correlated with this moderately low temp and do. So here fish appear to be moving towards the surface just enough to grab a bit higher DO, but are generally avoiding areas with the warmer temps and highest DO. </a:t>
            </a:r>
          </a:p>
          <a:p>
            <a:r>
              <a:rPr lang="en-US" baseline="0" dirty="0" smtClean="0"/>
              <a:t>The takeaway here is that selection probability is shifting from lowest available temperatures (during period high do), to more moderate temperatures (during period of low do) – given what is available, probability of temperature selection is shifting from coolest available to warmer. </a:t>
            </a:r>
            <a:endParaRPr lang="en-US" dirty="0"/>
          </a:p>
        </p:txBody>
      </p:sp>
      <p:sp>
        <p:nvSpPr>
          <p:cNvPr id="4" name="Slide Number Placeholder 3"/>
          <p:cNvSpPr>
            <a:spLocks noGrp="1"/>
          </p:cNvSpPr>
          <p:nvPr>
            <p:ph type="sldNum" sz="quarter" idx="10"/>
          </p:nvPr>
        </p:nvSpPr>
        <p:spPr/>
        <p:txBody>
          <a:bodyPr/>
          <a:lstStyle/>
          <a:p>
            <a:fld id="{47619D6C-8E9C-47F1-B852-51CC63B9B10A}" type="slidenum">
              <a:rPr lang="en-US" smtClean="0"/>
              <a:t>6</a:t>
            </a:fld>
            <a:endParaRPr lang="en-US"/>
          </a:p>
        </p:txBody>
      </p:sp>
    </p:spTree>
    <p:extLst>
      <p:ext uri="{BB962C8B-B14F-4D97-AF65-F5344CB8AC3E}">
        <p14:creationId xmlns:p14="http://schemas.microsoft.com/office/powerpoint/2010/main" val="2676558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0999479-91BF-4A29-A20C-46C04ADE03AF}"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2116256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999479-91BF-4A29-A20C-46C04ADE03AF}"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4048588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0999479-91BF-4A29-A20C-46C04ADE03AF}"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954077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0999479-91BF-4A29-A20C-46C04ADE03AF}" type="datetimeFigureOut">
              <a:rPr lang="en-US" smtClean="0"/>
              <a:t>5/17/2023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722534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999479-91BF-4A29-A20C-46C04ADE03AF}" type="datetimeFigureOut">
              <a:rPr lang="en-US" smtClean="0"/>
              <a:t>5/17/2023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1390531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0999479-91BF-4A29-A20C-46C04ADE03AF}" type="datetimeFigureOut">
              <a:rPr lang="en-US" smtClean="0"/>
              <a:t>5/17/2023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786531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999479-91BF-4A29-A20C-46C04ADE03AF}" type="datetimeFigureOut">
              <a:rPr lang="en-US" smtClean="0"/>
              <a:t>5/17/2023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02450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999479-91BF-4A29-A20C-46C04ADE03AF}" type="datetimeFigureOut">
              <a:rPr lang="en-US" smtClean="0"/>
              <a:t>5/17/2023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299251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0999479-91BF-4A29-A20C-46C04ADE03AF}" type="datetimeFigureOut">
              <a:rPr lang="en-US" smtClean="0"/>
              <a:t>5/17/2023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147927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999479-91BF-4A29-A20C-46C04ADE03AF}"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700407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0999479-91BF-4A29-A20C-46C04ADE03AF}" type="datetimeFigureOut">
              <a:rPr lang="en-US" smtClean="0"/>
              <a:t>5/17/2023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34952C-D4B3-4EC6-AA4E-6CC7BDA5F832}" type="slidenum">
              <a:rPr lang="en-US" smtClean="0"/>
              <a:t>‹#›</a:t>
            </a:fld>
            <a:endParaRPr lang="en-US"/>
          </a:p>
        </p:txBody>
      </p:sp>
    </p:spTree>
    <p:extLst>
      <p:ext uri="{BB962C8B-B14F-4D97-AF65-F5344CB8AC3E}">
        <p14:creationId xmlns:p14="http://schemas.microsoft.com/office/powerpoint/2010/main" val="3809549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99479-91BF-4A29-A20C-46C04ADE03AF}" type="datetimeFigureOut">
              <a:rPr lang="en-US" smtClean="0"/>
              <a:t>5/17/2023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4952C-D4B3-4EC6-AA4E-6CC7BDA5F832}" type="slidenum">
              <a:rPr lang="en-US" smtClean="0"/>
              <a:t>‹#›</a:t>
            </a:fld>
            <a:endParaRPr lang="en-US"/>
          </a:p>
        </p:txBody>
      </p:sp>
    </p:spTree>
    <p:extLst>
      <p:ext uri="{BB962C8B-B14F-4D97-AF65-F5344CB8AC3E}">
        <p14:creationId xmlns:p14="http://schemas.microsoft.com/office/powerpoint/2010/main" val="2152229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t="4707"/>
          <a:stretch/>
        </p:blipFill>
        <p:spPr>
          <a:xfrm>
            <a:off x="2958549" y="185055"/>
            <a:ext cx="6261652" cy="3145063"/>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58550" y="3431172"/>
            <a:ext cx="5956850" cy="3285309"/>
          </a:xfrm>
          <a:prstGeom prst="rect">
            <a:avLst/>
          </a:prstGeom>
        </p:spPr>
      </p:pic>
      <p:sp>
        <p:nvSpPr>
          <p:cNvPr id="5" name="TextBox 4"/>
          <p:cNvSpPr txBox="1"/>
          <p:nvPr/>
        </p:nvSpPr>
        <p:spPr>
          <a:xfrm>
            <a:off x="3146224" y="29966"/>
            <a:ext cx="317716" cy="369332"/>
          </a:xfrm>
          <a:prstGeom prst="rect">
            <a:avLst/>
          </a:prstGeom>
          <a:noFill/>
        </p:spPr>
        <p:txBody>
          <a:bodyPr wrap="none" rtlCol="0">
            <a:spAutoFit/>
          </a:bodyPr>
          <a:lstStyle/>
          <a:p>
            <a:r>
              <a:rPr lang="en-US" dirty="0" smtClean="0"/>
              <a:t>A</a:t>
            </a:r>
            <a:endParaRPr lang="en-US" dirty="0"/>
          </a:p>
        </p:txBody>
      </p:sp>
      <p:sp>
        <p:nvSpPr>
          <p:cNvPr id="6" name="TextBox 5"/>
          <p:cNvSpPr txBox="1"/>
          <p:nvPr/>
        </p:nvSpPr>
        <p:spPr>
          <a:xfrm>
            <a:off x="3139378" y="3263725"/>
            <a:ext cx="309700" cy="369332"/>
          </a:xfrm>
          <a:prstGeom prst="rect">
            <a:avLst/>
          </a:prstGeom>
          <a:noFill/>
        </p:spPr>
        <p:txBody>
          <a:bodyPr wrap="none" rtlCol="0">
            <a:spAutoFit/>
          </a:bodyPr>
          <a:lstStyle/>
          <a:p>
            <a:r>
              <a:rPr lang="en-US" dirty="0"/>
              <a:t>B</a:t>
            </a:r>
          </a:p>
        </p:txBody>
      </p:sp>
      <p:sp>
        <p:nvSpPr>
          <p:cNvPr id="7" name="Rectangle 6"/>
          <p:cNvSpPr/>
          <p:nvPr/>
        </p:nvSpPr>
        <p:spPr>
          <a:xfrm>
            <a:off x="3235089" y="315686"/>
            <a:ext cx="5338640" cy="16311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235089" y="3559277"/>
            <a:ext cx="5191156" cy="168131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989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print">
            <a:extLst>
              <a:ext uri="{28A0092B-C50C-407E-A947-70E740481C1C}">
                <a14:useLocalDpi xmlns:a14="http://schemas.microsoft.com/office/drawing/2010/main" val="0"/>
              </a:ext>
            </a:extLst>
          </a:blip>
          <a:srcRect t="4707"/>
          <a:stretch/>
        </p:blipFill>
        <p:spPr>
          <a:xfrm>
            <a:off x="2958549" y="185055"/>
            <a:ext cx="6261652" cy="3145063"/>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58550" y="3431172"/>
            <a:ext cx="5956850" cy="3285309"/>
          </a:xfrm>
          <a:prstGeom prst="rect">
            <a:avLst/>
          </a:prstGeom>
        </p:spPr>
      </p:pic>
      <p:sp>
        <p:nvSpPr>
          <p:cNvPr id="5" name="TextBox 4"/>
          <p:cNvSpPr txBox="1"/>
          <p:nvPr/>
        </p:nvSpPr>
        <p:spPr>
          <a:xfrm>
            <a:off x="3146224" y="29966"/>
            <a:ext cx="317716" cy="369332"/>
          </a:xfrm>
          <a:prstGeom prst="rect">
            <a:avLst/>
          </a:prstGeom>
          <a:noFill/>
        </p:spPr>
        <p:txBody>
          <a:bodyPr wrap="none" rtlCol="0">
            <a:spAutoFit/>
          </a:bodyPr>
          <a:lstStyle/>
          <a:p>
            <a:r>
              <a:rPr lang="en-US" dirty="0" smtClean="0"/>
              <a:t>A</a:t>
            </a:r>
            <a:endParaRPr lang="en-US" dirty="0"/>
          </a:p>
        </p:txBody>
      </p:sp>
      <p:sp>
        <p:nvSpPr>
          <p:cNvPr id="6" name="TextBox 5"/>
          <p:cNvSpPr txBox="1"/>
          <p:nvPr/>
        </p:nvSpPr>
        <p:spPr>
          <a:xfrm>
            <a:off x="3139378" y="3263725"/>
            <a:ext cx="309700" cy="369332"/>
          </a:xfrm>
          <a:prstGeom prst="rect">
            <a:avLst/>
          </a:prstGeom>
          <a:noFill/>
        </p:spPr>
        <p:txBody>
          <a:bodyPr wrap="none" rtlCol="0">
            <a:spAutoFit/>
          </a:bodyPr>
          <a:lstStyle/>
          <a:p>
            <a:r>
              <a:rPr lang="en-US" dirty="0"/>
              <a:t>B</a:t>
            </a:r>
          </a:p>
        </p:txBody>
      </p:sp>
      <p:sp>
        <p:nvSpPr>
          <p:cNvPr id="3" name="Left Bracket 2"/>
          <p:cNvSpPr/>
          <p:nvPr/>
        </p:nvSpPr>
        <p:spPr>
          <a:xfrm>
            <a:off x="2821858" y="589935"/>
            <a:ext cx="136691" cy="1258530"/>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Left Bracket 8"/>
          <p:cNvSpPr/>
          <p:nvPr/>
        </p:nvSpPr>
        <p:spPr>
          <a:xfrm>
            <a:off x="2821858" y="3652351"/>
            <a:ext cx="136691" cy="1588619"/>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0" name="Left Bracket 9"/>
          <p:cNvSpPr/>
          <p:nvPr/>
        </p:nvSpPr>
        <p:spPr>
          <a:xfrm>
            <a:off x="2840082" y="2008511"/>
            <a:ext cx="98803" cy="1019823"/>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Left Bracket 10"/>
          <p:cNvSpPr/>
          <p:nvPr/>
        </p:nvSpPr>
        <p:spPr>
          <a:xfrm>
            <a:off x="2831690" y="5342024"/>
            <a:ext cx="117027" cy="1107937"/>
          </a:xfrm>
          <a:prstGeom prst="lef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2" name="TextBox 11"/>
          <p:cNvSpPr txBox="1"/>
          <p:nvPr/>
        </p:nvSpPr>
        <p:spPr>
          <a:xfrm>
            <a:off x="1821328" y="1034534"/>
            <a:ext cx="1000530"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Temp ℃</a:t>
            </a:r>
            <a:endParaRPr lang="en-US" dirty="0"/>
          </a:p>
        </p:txBody>
      </p:sp>
      <p:sp>
        <p:nvSpPr>
          <p:cNvPr id="13" name="TextBox 12"/>
          <p:cNvSpPr txBox="1"/>
          <p:nvPr/>
        </p:nvSpPr>
        <p:spPr>
          <a:xfrm>
            <a:off x="1681316" y="4291490"/>
            <a:ext cx="1000530"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Temp ℃</a:t>
            </a:r>
            <a:endParaRPr lang="en-US" dirty="0"/>
          </a:p>
        </p:txBody>
      </p:sp>
      <p:sp>
        <p:nvSpPr>
          <p:cNvPr id="14" name="TextBox 13"/>
          <p:cNvSpPr txBox="1"/>
          <p:nvPr/>
        </p:nvSpPr>
        <p:spPr>
          <a:xfrm>
            <a:off x="1764146" y="2343442"/>
            <a:ext cx="1075936"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DO mg/L</a:t>
            </a:r>
            <a:endParaRPr lang="en-US"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1681316" y="5701155"/>
            <a:ext cx="1075936" cy="369332"/>
          </a:xfrm>
          <a:prstGeom prst="rect">
            <a:avLst/>
          </a:prstGeom>
          <a:noFill/>
        </p:spPr>
        <p:txBody>
          <a:bodyPr wrap="none" rtlCol="0">
            <a:spAutoFit/>
          </a:bodyPr>
          <a:lstStyle/>
          <a:p>
            <a:r>
              <a:rPr lang="en-US" dirty="0" smtClean="0">
                <a:latin typeface="Times New Roman" panose="02020603050405020304" pitchFamily="18" charset="0"/>
                <a:cs typeface="Times New Roman" panose="02020603050405020304" pitchFamily="18" charset="0"/>
              </a:rPr>
              <a:t>DO mg/L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4329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590" y="718458"/>
            <a:ext cx="7905368" cy="5251914"/>
          </a:xfrm>
          <a:prstGeom prst="rect">
            <a:avLst/>
          </a:prstGeom>
        </p:spPr>
      </p:pic>
    </p:spTree>
    <p:extLst>
      <p:ext uri="{BB962C8B-B14F-4D97-AF65-F5344CB8AC3E}">
        <p14:creationId xmlns:p14="http://schemas.microsoft.com/office/powerpoint/2010/main" val="938217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4735" y="399037"/>
            <a:ext cx="4142010" cy="2761341"/>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5021" y="3363686"/>
            <a:ext cx="4147099" cy="2762782"/>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40929" y="399037"/>
            <a:ext cx="4142014" cy="2761342"/>
          </a:xfrm>
          <a:prstGeom prst="rect">
            <a:avLst/>
          </a:prstGeom>
        </p:spPr>
      </p:pic>
      <p:pic>
        <p:nvPicPr>
          <p:cNvPr id="5" name="Picture 4"/>
          <p:cNvPicPr>
            <a:picLocks noChangeAspect="1"/>
          </p:cNvPicPr>
          <p:nvPr/>
        </p:nvPicPr>
        <p:blipFill rotWithShape="1">
          <a:blip r:embed="rId6" cstate="print">
            <a:extLst>
              <a:ext uri="{28A0092B-C50C-407E-A947-70E740481C1C}">
                <a14:useLocalDpi xmlns:a14="http://schemas.microsoft.com/office/drawing/2010/main" val="0"/>
              </a:ext>
            </a:extLst>
          </a:blip>
          <a:srcRect b="10753"/>
          <a:stretch/>
        </p:blipFill>
        <p:spPr>
          <a:xfrm>
            <a:off x="6387229" y="3229829"/>
            <a:ext cx="3946071" cy="2641332"/>
          </a:xfrm>
          <a:prstGeom prst="rect">
            <a:avLst/>
          </a:prstGeom>
        </p:spPr>
      </p:pic>
    </p:spTree>
    <p:extLst>
      <p:ext uri="{BB962C8B-B14F-4D97-AF65-F5344CB8AC3E}">
        <p14:creationId xmlns:p14="http://schemas.microsoft.com/office/powerpoint/2010/main" val="3705830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rotWithShape="1">
          <a:blip r:embed="rId3">
            <a:extLst>
              <a:ext uri="{28A0092B-C50C-407E-A947-70E740481C1C}">
                <a14:useLocalDpi xmlns:a14="http://schemas.microsoft.com/office/drawing/2010/main" val="0"/>
              </a:ext>
            </a:extLst>
          </a:blip>
          <a:srcRect t="281"/>
          <a:stretch/>
        </p:blipFill>
        <p:spPr>
          <a:xfrm>
            <a:off x="472097" y="981074"/>
            <a:ext cx="11265762" cy="5005197"/>
          </a:xfrm>
        </p:spPr>
      </p:pic>
      <p:sp>
        <p:nvSpPr>
          <p:cNvPr id="5" name="Freeform 4"/>
          <p:cNvSpPr/>
          <p:nvPr/>
        </p:nvSpPr>
        <p:spPr>
          <a:xfrm>
            <a:off x="8582421" y="2490537"/>
            <a:ext cx="1716611" cy="3222188"/>
          </a:xfrm>
          <a:custGeom>
            <a:avLst/>
            <a:gdLst>
              <a:gd name="connsiteX0" fmla="*/ 0 w 3381153"/>
              <a:gd name="connsiteY0" fmla="*/ 2615609 h 2626242"/>
              <a:gd name="connsiteX1" fmla="*/ 3359888 w 3381153"/>
              <a:gd name="connsiteY1" fmla="*/ 0 h 2626242"/>
              <a:gd name="connsiteX2" fmla="*/ 3381153 w 3381153"/>
              <a:gd name="connsiteY2" fmla="*/ 2626242 h 2626242"/>
              <a:gd name="connsiteX3" fmla="*/ 0 w 3381153"/>
              <a:gd name="connsiteY3" fmla="*/ 2615609 h 2626242"/>
            </a:gdLst>
            <a:ahLst/>
            <a:cxnLst>
              <a:cxn ang="0">
                <a:pos x="connsiteX0" y="connsiteY0"/>
              </a:cxn>
              <a:cxn ang="0">
                <a:pos x="connsiteX1" y="connsiteY1"/>
              </a:cxn>
              <a:cxn ang="0">
                <a:pos x="connsiteX2" y="connsiteY2"/>
              </a:cxn>
              <a:cxn ang="0">
                <a:pos x="connsiteX3" y="connsiteY3"/>
              </a:cxn>
            </a:cxnLst>
            <a:rect l="l" t="t" r="r" b="b"/>
            <a:pathLst>
              <a:path w="3381153" h="2626242">
                <a:moveTo>
                  <a:pt x="0" y="2615609"/>
                </a:moveTo>
                <a:lnTo>
                  <a:pt x="3359888" y="0"/>
                </a:lnTo>
                <a:lnTo>
                  <a:pt x="3381153" y="2626242"/>
                </a:lnTo>
                <a:lnTo>
                  <a:pt x="0" y="2615609"/>
                </a:lnTo>
                <a:close/>
              </a:path>
            </a:pathLst>
          </a:cu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Triangle 8"/>
          <p:cNvSpPr/>
          <p:nvPr/>
        </p:nvSpPr>
        <p:spPr>
          <a:xfrm rot="5400000">
            <a:off x="5664531" y="2784857"/>
            <a:ext cx="4367284" cy="1090400"/>
          </a:xfrm>
          <a:prstGeom prst="rtTriangl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03132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t="178"/>
          <a:stretch/>
        </p:blipFill>
        <p:spPr>
          <a:xfrm>
            <a:off x="481263" y="963303"/>
            <a:ext cx="11246377" cy="5001768"/>
          </a:xfrm>
          <a:prstGeom prst="rect">
            <a:avLst/>
          </a:prstGeom>
        </p:spPr>
      </p:pic>
      <p:sp>
        <p:nvSpPr>
          <p:cNvPr id="5" name="Freeform 4"/>
          <p:cNvSpPr/>
          <p:nvPr/>
        </p:nvSpPr>
        <p:spPr>
          <a:xfrm>
            <a:off x="7943533" y="1792706"/>
            <a:ext cx="2355499" cy="3713748"/>
          </a:xfrm>
          <a:custGeom>
            <a:avLst/>
            <a:gdLst>
              <a:gd name="connsiteX0" fmla="*/ 0 w 3381153"/>
              <a:gd name="connsiteY0" fmla="*/ 2615609 h 2626242"/>
              <a:gd name="connsiteX1" fmla="*/ 3359888 w 3381153"/>
              <a:gd name="connsiteY1" fmla="*/ 0 h 2626242"/>
              <a:gd name="connsiteX2" fmla="*/ 3381153 w 3381153"/>
              <a:gd name="connsiteY2" fmla="*/ 2626242 h 2626242"/>
              <a:gd name="connsiteX3" fmla="*/ 0 w 3381153"/>
              <a:gd name="connsiteY3" fmla="*/ 2615609 h 2626242"/>
            </a:gdLst>
            <a:ahLst/>
            <a:cxnLst>
              <a:cxn ang="0">
                <a:pos x="connsiteX0" y="connsiteY0"/>
              </a:cxn>
              <a:cxn ang="0">
                <a:pos x="connsiteX1" y="connsiteY1"/>
              </a:cxn>
              <a:cxn ang="0">
                <a:pos x="connsiteX2" y="connsiteY2"/>
              </a:cxn>
              <a:cxn ang="0">
                <a:pos x="connsiteX3" y="connsiteY3"/>
              </a:cxn>
            </a:cxnLst>
            <a:rect l="l" t="t" r="r" b="b"/>
            <a:pathLst>
              <a:path w="3381153" h="2626242">
                <a:moveTo>
                  <a:pt x="0" y="2615609"/>
                </a:moveTo>
                <a:lnTo>
                  <a:pt x="3359888" y="0"/>
                </a:lnTo>
                <a:lnTo>
                  <a:pt x="3381153" y="2626242"/>
                </a:lnTo>
                <a:lnTo>
                  <a:pt x="0" y="2615609"/>
                </a:lnTo>
                <a:close/>
              </a:path>
            </a:pathLst>
          </a:cu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p:cNvSpPr/>
          <p:nvPr/>
        </p:nvSpPr>
        <p:spPr>
          <a:xfrm rot="5400000">
            <a:off x="6489724" y="2001946"/>
            <a:ext cx="3941042" cy="2185656"/>
          </a:xfrm>
          <a:prstGeom prst="rtTriangle">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57089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43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294</Words>
  <Application>Microsoft Office PowerPoint</Application>
  <PresentationFormat>Widescreen</PresentationFormat>
  <Paragraphs>20</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Barrett, Hannah</dc:creator>
  <cp:lastModifiedBy>Barrett, Hannah</cp:lastModifiedBy>
  <cp:revision>5</cp:revision>
  <dcterms:created xsi:type="dcterms:W3CDTF">2023-05-17T17:10:37Z</dcterms:created>
  <dcterms:modified xsi:type="dcterms:W3CDTF">2023-05-17T20:37:38Z</dcterms:modified>
</cp:coreProperties>
</file>